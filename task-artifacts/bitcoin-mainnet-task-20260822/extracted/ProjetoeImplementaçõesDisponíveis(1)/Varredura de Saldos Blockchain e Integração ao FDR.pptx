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2438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Relatório de Varredura de Saldos Blockchain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14388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361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Visão Geral da Varredura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285750" y="1950327"/>
            <a:ext cx="4000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Este relatório apresenta os resultados da varredura de saldos em carteiras Bitcoin, utilizando múltiplas APIs blockchain para identificar endereços com saldo positivo.</a:t>
            </a:r>
            <a:endParaRPr lang="en-US" sz="837" dirty="0"/>
          </a:p>
        </p:txBody>
      </p:sp>
      <p:sp>
        <p:nvSpPr>
          <p:cNvPr id="6" name="Text 3"/>
          <p:cNvSpPr/>
          <p:nvPr/>
        </p:nvSpPr>
        <p:spPr>
          <a:xfrm>
            <a:off x="285750" y="2643271"/>
            <a:ext cx="135240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Objetivos da Varredura:</a:t>
            </a:r>
            <a:endParaRPr lang="en-US" sz="837" dirty="0"/>
          </a:p>
        </p:txBody>
      </p:sp>
      <p:sp>
        <p:nvSpPr>
          <p:cNvPr id="7" name="Text 4"/>
          <p:cNvSpPr/>
          <p:nvPr/>
        </p:nvSpPr>
        <p:spPr>
          <a:xfrm>
            <a:off x="457200" y="2864727"/>
            <a:ext cx="38290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Identificar carteiras com saldo positivo</a:t>
            </a:r>
            <a:endParaRPr lang="en-US" sz="837" dirty="0"/>
          </a:p>
        </p:txBody>
      </p:sp>
      <p:sp>
        <p:nvSpPr>
          <p:cNvPr id="8" name="Text 5"/>
          <p:cNvSpPr/>
          <p:nvPr/>
        </p:nvSpPr>
        <p:spPr>
          <a:xfrm>
            <a:off x="457200" y="3036177"/>
            <a:ext cx="38290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Quantificar o valor total disponível</a:t>
            </a:r>
            <a:endParaRPr lang="en-US" sz="837" dirty="0"/>
          </a:p>
        </p:txBody>
      </p:sp>
      <p:sp>
        <p:nvSpPr>
          <p:cNvPr id="9" name="Text 6"/>
          <p:cNvSpPr/>
          <p:nvPr/>
        </p:nvSpPr>
        <p:spPr>
          <a:xfrm>
            <a:off x="457200" y="3214771"/>
            <a:ext cx="202059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Priorizar carteiras para integração ao </a:t>
            </a:r>
            <a:endParaRPr lang="en-US" sz="837" dirty="0"/>
          </a:p>
        </p:txBody>
      </p:sp>
      <p:sp>
        <p:nvSpPr>
          <p:cNvPr id="10" name="Text 7"/>
          <p:cNvSpPr/>
          <p:nvPr/>
        </p:nvSpPr>
        <p:spPr>
          <a:xfrm>
            <a:off x="2477793" y="3214771"/>
            <a:ext cx="22279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b="1" dirty="0">
                <a:solidFill>
                  <a:srgbClr val="4361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FDR</a:t>
            </a:r>
            <a:endParaRPr lang="en-US" sz="837" dirty="0"/>
          </a:p>
        </p:txBody>
      </p:sp>
      <p:sp>
        <p:nvSpPr>
          <p:cNvPr id="11" name="Text 8"/>
          <p:cNvSpPr/>
          <p:nvPr/>
        </p:nvSpPr>
        <p:spPr>
          <a:xfrm>
            <a:off x="457200" y="3379077"/>
            <a:ext cx="38290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Validar a viabilidade de consolidação de fundos</a:t>
            </a:r>
            <a:endParaRPr lang="en-US" sz="837" dirty="0"/>
          </a:p>
        </p:txBody>
      </p:sp>
      <p:sp>
        <p:nvSpPr>
          <p:cNvPr id="12" name="Shape 9"/>
          <p:cNvSpPr/>
          <p:nvPr/>
        </p:nvSpPr>
        <p:spPr>
          <a:xfrm>
            <a:off x="285750" y="3793415"/>
            <a:ext cx="1666866" cy="642938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3" name="Text 10"/>
          <p:cNvSpPr/>
          <p:nvPr/>
        </p:nvSpPr>
        <p:spPr>
          <a:xfrm>
            <a:off x="392906" y="3900571"/>
            <a:ext cx="145255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4361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36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392906" y="4157746"/>
            <a:ext cx="145255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Endereços Verificados</a:t>
            </a:r>
            <a:endParaRPr lang="en-US" sz="837" dirty="0"/>
          </a:p>
        </p:txBody>
      </p:sp>
      <p:sp>
        <p:nvSpPr>
          <p:cNvPr id="15" name="Shape 12"/>
          <p:cNvSpPr/>
          <p:nvPr/>
        </p:nvSpPr>
        <p:spPr>
          <a:xfrm>
            <a:off x="1952616" y="3793415"/>
            <a:ext cx="1666866" cy="642938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6" name="Text 13"/>
          <p:cNvSpPr/>
          <p:nvPr/>
        </p:nvSpPr>
        <p:spPr>
          <a:xfrm>
            <a:off x="2059772" y="3900571"/>
            <a:ext cx="145255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4361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2059772" y="4157746"/>
            <a:ext cx="145255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Carteiras com Saldo</a:t>
            </a:r>
            <a:endParaRPr lang="en-US" sz="837" dirty="0"/>
          </a:p>
        </p:txBody>
      </p:sp>
      <p:sp>
        <p:nvSpPr>
          <p:cNvPr id="18" name="Shape 15"/>
          <p:cNvSpPr/>
          <p:nvPr/>
        </p:nvSpPr>
        <p:spPr>
          <a:xfrm>
            <a:off x="285750" y="4579227"/>
            <a:ext cx="1666866" cy="642938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9" name="Text 16"/>
          <p:cNvSpPr/>
          <p:nvPr/>
        </p:nvSpPr>
        <p:spPr>
          <a:xfrm>
            <a:off x="392906" y="4686384"/>
            <a:ext cx="145255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4361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31.089,84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392906" y="4943559"/>
            <a:ext cx="145255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BTC Encontrados</a:t>
            </a:r>
            <a:endParaRPr lang="en-US" sz="837" dirty="0"/>
          </a:p>
        </p:txBody>
      </p:sp>
      <p:sp>
        <p:nvSpPr>
          <p:cNvPr id="21" name="Shape 18"/>
          <p:cNvSpPr/>
          <p:nvPr/>
        </p:nvSpPr>
        <p:spPr>
          <a:xfrm>
            <a:off x="1952616" y="4579227"/>
            <a:ext cx="1666866" cy="642938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2" name="Text 19"/>
          <p:cNvSpPr/>
          <p:nvPr/>
        </p:nvSpPr>
        <p:spPr>
          <a:xfrm>
            <a:off x="2059772" y="4686384"/>
            <a:ext cx="145255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4361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30,7s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2059772" y="4943559"/>
            <a:ext cx="145255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Tempo de Varredura</a:t>
            </a:r>
            <a:endParaRPr lang="en-US" sz="837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688" y="1285875"/>
            <a:ext cx="2857500" cy="467220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464564" y="5986658"/>
            <a:ext cx="256513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Slide 1/7 • Relatório de Varredura de Saldos Blockchain </a:t>
            </a:r>
            <a:endParaRPr lang="en-US" sz="73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62213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Metodologia e Ferramentas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14388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361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Estratégias para Varredura Eficiente de Saldos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285750" y="1285875"/>
            <a:ext cx="4000500" cy="807244"/>
          </a:xfrm>
          <a:prstGeom prst="rect">
            <a:avLst/>
          </a:prstGeom>
          <a:solidFill>
            <a:srgbClr val="16213E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906" y="1425178"/>
            <a:ext cx="128588" cy="1285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2931" y="1393031"/>
            <a:ext cx="114406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Sistema Multi-API</a:t>
            </a:r>
            <a:endParaRPr lang="en-US" sz="942" dirty="0"/>
          </a:p>
        </p:txBody>
      </p:sp>
      <p:sp>
        <p:nvSpPr>
          <p:cNvPr id="8" name="Text 4"/>
          <p:cNvSpPr/>
          <p:nvPr/>
        </p:nvSpPr>
        <p:spPr>
          <a:xfrm>
            <a:off x="392906" y="1643063"/>
            <a:ext cx="37861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Utilização de múltiplas APIs blockchain com failover automático para contornar limites de taxa e garantir alta disponibilidade.</a:t>
            </a:r>
            <a:endParaRPr lang="en-US" sz="837" dirty="0"/>
          </a:p>
        </p:txBody>
      </p:sp>
      <p:sp>
        <p:nvSpPr>
          <p:cNvPr id="9" name="Shape 5"/>
          <p:cNvSpPr/>
          <p:nvPr/>
        </p:nvSpPr>
        <p:spPr>
          <a:xfrm>
            <a:off x="285750" y="2200275"/>
            <a:ext cx="4000500" cy="807244"/>
          </a:xfrm>
          <a:prstGeom prst="rect">
            <a:avLst/>
          </a:prstGeom>
          <a:solidFill>
            <a:srgbClr val="16213E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906" y="2339578"/>
            <a:ext cx="128588" cy="128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92931" y="2307431"/>
            <a:ext cx="160299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Processamento em Lotes</a:t>
            </a:r>
            <a:endParaRPr lang="en-US" sz="942" dirty="0"/>
          </a:p>
        </p:txBody>
      </p:sp>
      <p:sp>
        <p:nvSpPr>
          <p:cNvPr id="12" name="Text 7"/>
          <p:cNvSpPr/>
          <p:nvPr/>
        </p:nvSpPr>
        <p:spPr>
          <a:xfrm>
            <a:off x="392906" y="2557463"/>
            <a:ext cx="37861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Varredura de endereços em lotes otimizados, com controle de taxa para evitar bloqueios de API.</a:t>
            </a:r>
            <a:endParaRPr lang="en-US" sz="837" dirty="0"/>
          </a:p>
        </p:txBody>
      </p:sp>
      <p:sp>
        <p:nvSpPr>
          <p:cNvPr id="13" name="Shape 8"/>
          <p:cNvSpPr/>
          <p:nvPr/>
        </p:nvSpPr>
        <p:spPr>
          <a:xfrm>
            <a:off x="285750" y="3114675"/>
            <a:ext cx="4000500" cy="807244"/>
          </a:xfrm>
          <a:prstGeom prst="rect">
            <a:avLst/>
          </a:prstGeom>
          <a:solidFill>
            <a:srgbClr val="16213E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906" y="3253978"/>
            <a:ext cx="128588" cy="1285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92931" y="3221831"/>
            <a:ext cx="149909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Validação de Endereços</a:t>
            </a:r>
            <a:endParaRPr lang="en-US" sz="942" dirty="0"/>
          </a:p>
        </p:txBody>
      </p:sp>
      <p:sp>
        <p:nvSpPr>
          <p:cNvPr id="16" name="Text 10"/>
          <p:cNvSpPr/>
          <p:nvPr/>
        </p:nvSpPr>
        <p:spPr>
          <a:xfrm>
            <a:off x="392906" y="3471863"/>
            <a:ext cx="37861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Verificação automática da validade dos endereços Bitcoin, com suporte a formatos Legacy, P2SH e SegWit (Bech32).</a:t>
            </a:r>
            <a:endParaRPr lang="en-US" sz="837" dirty="0"/>
          </a:p>
        </p:txBody>
      </p:sp>
      <p:sp>
        <p:nvSpPr>
          <p:cNvPr id="17" name="Shape 11"/>
          <p:cNvSpPr/>
          <p:nvPr/>
        </p:nvSpPr>
        <p:spPr>
          <a:xfrm>
            <a:off x="285750" y="4064794"/>
            <a:ext cx="1057554" cy="314325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18" name="Text 12"/>
          <p:cNvSpPr/>
          <p:nvPr/>
        </p:nvSpPr>
        <p:spPr>
          <a:xfrm>
            <a:off x="285750" y="4064794"/>
            <a:ext cx="1057554" cy="3143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API</a:t>
            </a:r>
            <a:endParaRPr lang="en-US" sz="837" dirty="0"/>
          </a:p>
        </p:txBody>
      </p:sp>
      <p:sp>
        <p:nvSpPr>
          <p:cNvPr id="19" name="Shape 13"/>
          <p:cNvSpPr/>
          <p:nvPr/>
        </p:nvSpPr>
        <p:spPr>
          <a:xfrm>
            <a:off x="1343304" y="4064794"/>
            <a:ext cx="804035" cy="314325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20" name="Text 14"/>
          <p:cNvSpPr/>
          <p:nvPr/>
        </p:nvSpPr>
        <p:spPr>
          <a:xfrm>
            <a:off x="1343304" y="4064794"/>
            <a:ext cx="804035" cy="3143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Rate Limit</a:t>
            </a:r>
            <a:endParaRPr lang="en-US" sz="837" dirty="0"/>
          </a:p>
        </p:txBody>
      </p:sp>
      <p:sp>
        <p:nvSpPr>
          <p:cNvPr id="21" name="Shape 15"/>
          <p:cNvSpPr/>
          <p:nvPr/>
        </p:nvSpPr>
        <p:spPr>
          <a:xfrm>
            <a:off x="2147339" y="4064794"/>
            <a:ext cx="2138911" cy="314325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22" name="Text 16"/>
          <p:cNvSpPr/>
          <p:nvPr/>
        </p:nvSpPr>
        <p:spPr>
          <a:xfrm>
            <a:off x="2147339" y="4064794"/>
            <a:ext cx="2138911" cy="3143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Características</a:t>
            </a:r>
            <a:endParaRPr lang="en-US" sz="837" dirty="0"/>
          </a:p>
        </p:txBody>
      </p:sp>
      <p:sp>
        <p:nvSpPr>
          <p:cNvPr id="23" name="Shape 17"/>
          <p:cNvSpPr/>
          <p:nvPr/>
        </p:nvSpPr>
        <p:spPr>
          <a:xfrm>
            <a:off x="285750" y="4379119"/>
            <a:ext cx="1057554" cy="317897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4" name="Shape 18"/>
          <p:cNvSpPr/>
          <p:nvPr/>
        </p:nvSpPr>
        <p:spPr>
          <a:xfrm>
            <a:off x="285750" y="4689872"/>
            <a:ext cx="1057554" cy="7144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5" name="Text 19"/>
          <p:cNvSpPr/>
          <p:nvPr/>
        </p:nvSpPr>
        <p:spPr>
          <a:xfrm>
            <a:off x="285750" y="4379119"/>
            <a:ext cx="1057554" cy="317897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BlockCypher</a:t>
            </a:r>
            <a:endParaRPr lang="en-US" sz="837" dirty="0"/>
          </a:p>
        </p:txBody>
      </p:sp>
      <p:sp>
        <p:nvSpPr>
          <p:cNvPr id="26" name="Shape 20"/>
          <p:cNvSpPr/>
          <p:nvPr/>
        </p:nvSpPr>
        <p:spPr>
          <a:xfrm>
            <a:off x="1343304" y="4379119"/>
            <a:ext cx="804035" cy="317897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7" name="Shape 21"/>
          <p:cNvSpPr/>
          <p:nvPr/>
        </p:nvSpPr>
        <p:spPr>
          <a:xfrm>
            <a:off x="1343304" y="4689872"/>
            <a:ext cx="804035" cy="7144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8" name="Text 22"/>
          <p:cNvSpPr/>
          <p:nvPr/>
        </p:nvSpPr>
        <p:spPr>
          <a:xfrm>
            <a:off x="1343304" y="4379119"/>
            <a:ext cx="804035" cy="317897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3.0s</a:t>
            </a:r>
            <a:endParaRPr lang="en-US" sz="837" dirty="0"/>
          </a:p>
        </p:txBody>
      </p:sp>
      <p:sp>
        <p:nvSpPr>
          <p:cNvPr id="29" name="Shape 23"/>
          <p:cNvSpPr/>
          <p:nvPr/>
        </p:nvSpPr>
        <p:spPr>
          <a:xfrm>
            <a:off x="2147339" y="4379119"/>
            <a:ext cx="2138911" cy="317897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0" name="Shape 24"/>
          <p:cNvSpPr/>
          <p:nvPr/>
        </p:nvSpPr>
        <p:spPr>
          <a:xfrm>
            <a:off x="2147339" y="4689872"/>
            <a:ext cx="2138911" cy="7144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1" name="Text 25"/>
          <p:cNvSpPr/>
          <p:nvPr/>
        </p:nvSpPr>
        <p:spPr>
          <a:xfrm>
            <a:off x="2147339" y="4379119"/>
            <a:ext cx="2138911" cy="317897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Dados detalhados, alta precisão</a:t>
            </a:r>
            <a:endParaRPr lang="en-US" sz="837" dirty="0"/>
          </a:p>
        </p:txBody>
      </p:sp>
      <p:sp>
        <p:nvSpPr>
          <p:cNvPr id="32" name="Shape 26"/>
          <p:cNvSpPr/>
          <p:nvPr/>
        </p:nvSpPr>
        <p:spPr>
          <a:xfrm>
            <a:off x="285750" y="4693444"/>
            <a:ext cx="1057554" cy="317897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3" name="Shape 27"/>
          <p:cNvSpPr/>
          <p:nvPr/>
        </p:nvSpPr>
        <p:spPr>
          <a:xfrm>
            <a:off x="285750" y="5004197"/>
            <a:ext cx="1057554" cy="7144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4" name="Text 28"/>
          <p:cNvSpPr/>
          <p:nvPr/>
        </p:nvSpPr>
        <p:spPr>
          <a:xfrm>
            <a:off x="285750" y="4693444"/>
            <a:ext cx="1057554" cy="317897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Blockchain.info</a:t>
            </a:r>
            <a:endParaRPr lang="en-US" sz="837" dirty="0"/>
          </a:p>
        </p:txBody>
      </p:sp>
      <p:sp>
        <p:nvSpPr>
          <p:cNvPr id="35" name="Shape 29"/>
          <p:cNvSpPr/>
          <p:nvPr/>
        </p:nvSpPr>
        <p:spPr>
          <a:xfrm>
            <a:off x="1343304" y="4693444"/>
            <a:ext cx="804035" cy="317897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6" name="Shape 30"/>
          <p:cNvSpPr/>
          <p:nvPr/>
        </p:nvSpPr>
        <p:spPr>
          <a:xfrm>
            <a:off x="1343304" y="5004197"/>
            <a:ext cx="804035" cy="7144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7" name="Text 31"/>
          <p:cNvSpPr/>
          <p:nvPr/>
        </p:nvSpPr>
        <p:spPr>
          <a:xfrm>
            <a:off x="1343304" y="4693444"/>
            <a:ext cx="804035" cy="317897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1.0s</a:t>
            </a:r>
            <a:endParaRPr lang="en-US" sz="837" dirty="0"/>
          </a:p>
        </p:txBody>
      </p:sp>
      <p:sp>
        <p:nvSpPr>
          <p:cNvPr id="38" name="Shape 32"/>
          <p:cNvSpPr/>
          <p:nvPr/>
        </p:nvSpPr>
        <p:spPr>
          <a:xfrm>
            <a:off x="2147339" y="4693444"/>
            <a:ext cx="2138911" cy="317897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9" name="Shape 33"/>
          <p:cNvSpPr/>
          <p:nvPr/>
        </p:nvSpPr>
        <p:spPr>
          <a:xfrm>
            <a:off x="2147339" y="5004197"/>
            <a:ext cx="2138911" cy="7144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0" name="Text 34"/>
          <p:cNvSpPr/>
          <p:nvPr/>
        </p:nvSpPr>
        <p:spPr>
          <a:xfrm>
            <a:off x="2147339" y="4693444"/>
            <a:ext cx="2138911" cy="317897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Resposta rápida, formato simples</a:t>
            </a:r>
            <a:endParaRPr lang="en-US" sz="837" dirty="0"/>
          </a:p>
        </p:txBody>
      </p:sp>
      <p:sp>
        <p:nvSpPr>
          <p:cNvPr id="41" name="Shape 35"/>
          <p:cNvSpPr/>
          <p:nvPr/>
        </p:nvSpPr>
        <p:spPr>
          <a:xfrm>
            <a:off x="285750" y="5007769"/>
            <a:ext cx="1057554" cy="31432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2" name="Text 36"/>
          <p:cNvSpPr/>
          <p:nvPr/>
        </p:nvSpPr>
        <p:spPr>
          <a:xfrm>
            <a:off x="285750" y="5007769"/>
            <a:ext cx="1057554" cy="3143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BlockStream</a:t>
            </a:r>
            <a:endParaRPr lang="en-US" sz="837" dirty="0"/>
          </a:p>
        </p:txBody>
      </p:sp>
      <p:sp>
        <p:nvSpPr>
          <p:cNvPr id="43" name="Shape 37"/>
          <p:cNvSpPr/>
          <p:nvPr/>
        </p:nvSpPr>
        <p:spPr>
          <a:xfrm>
            <a:off x="1343304" y="5007769"/>
            <a:ext cx="804035" cy="31432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4" name="Text 38"/>
          <p:cNvSpPr/>
          <p:nvPr/>
        </p:nvSpPr>
        <p:spPr>
          <a:xfrm>
            <a:off x="1343304" y="5007769"/>
            <a:ext cx="804035" cy="3143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0.5s</a:t>
            </a:r>
            <a:endParaRPr lang="en-US" sz="837" dirty="0"/>
          </a:p>
        </p:txBody>
      </p:sp>
      <p:sp>
        <p:nvSpPr>
          <p:cNvPr id="45" name="Shape 39"/>
          <p:cNvSpPr/>
          <p:nvPr/>
        </p:nvSpPr>
        <p:spPr>
          <a:xfrm>
            <a:off x="2147339" y="5007769"/>
            <a:ext cx="2138911" cy="31432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6" name="Text 40"/>
          <p:cNvSpPr/>
          <p:nvPr/>
        </p:nvSpPr>
        <p:spPr>
          <a:xfrm>
            <a:off x="2147339" y="5007769"/>
            <a:ext cx="2138911" cy="3143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API moderna, dados de chain</a:t>
            </a:r>
            <a:endParaRPr lang="en-US" sz="837" dirty="0"/>
          </a:p>
        </p:txBody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285875"/>
            <a:ext cx="3571875" cy="1474543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6464564" y="5350669"/>
            <a:ext cx="256513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Slide 2/7 • Relatório de Varredura de Saldos Blockchain </a:t>
            </a:r>
            <a:endParaRPr lang="en-US" sz="73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072276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Resultados da Varredura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14388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361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Análise dos Endereços Verificados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285750" y="1285875"/>
            <a:ext cx="3571875" cy="1435894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6" name="Text 3"/>
          <p:cNvSpPr/>
          <p:nvPr/>
        </p:nvSpPr>
        <p:spPr>
          <a:xfrm>
            <a:off x="392906" y="1393031"/>
            <a:ext cx="33575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Resumo da Varredura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392906" y="1643063"/>
            <a:ext cx="117626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4361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36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92906" y="1900238"/>
            <a:ext cx="11762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Endereços Verificados</a:t>
            </a:r>
            <a:endParaRPr lang="en-US" sz="837" dirty="0"/>
          </a:p>
        </p:txBody>
      </p:sp>
      <p:sp>
        <p:nvSpPr>
          <p:cNvPr id="9" name="Text 6"/>
          <p:cNvSpPr/>
          <p:nvPr/>
        </p:nvSpPr>
        <p:spPr>
          <a:xfrm>
            <a:off x="3094834" y="1643063"/>
            <a:ext cx="65563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4361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30,7s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094834" y="1900238"/>
            <a:ext cx="65563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Tempo Total</a:t>
            </a:r>
            <a:endParaRPr lang="en-US" sz="837" dirty="0"/>
          </a:p>
        </p:txBody>
      </p:sp>
      <p:sp>
        <p:nvSpPr>
          <p:cNvPr id="11" name="Text 8"/>
          <p:cNvSpPr/>
          <p:nvPr/>
        </p:nvSpPr>
        <p:spPr>
          <a:xfrm>
            <a:off x="392906" y="2185988"/>
            <a:ext cx="57378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4361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92906" y="2443163"/>
            <a:ext cx="5737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 Saldo</a:t>
            </a:r>
            <a:endParaRPr lang="en-US" sz="837" dirty="0"/>
          </a:p>
        </p:txBody>
      </p:sp>
      <p:sp>
        <p:nvSpPr>
          <p:cNvPr id="13" name="Text 10"/>
          <p:cNvSpPr/>
          <p:nvPr/>
        </p:nvSpPr>
        <p:spPr>
          <a:xfrm>
            <a:off x="2966247" y="2185988"/>
            <a:ext cx="78422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4361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31.089,84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2966247" y="2443163"/>
            <a:ext cx="78422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BTC Total</a:t>
            </a:r>
            <a:endParaRPr lang="en-US" sz="837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2978944"/>
            <a:ext cx="114300" cy="1143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1488" y="2871788"/>
            <a:ext cx="10548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Taxa de sucesso de </a:t>
            </a:r>
            <a:endParaRPr lang="en-US" sz="837" dirty="0"/>
          </a:p>
        </p:txBody>
      </p:sp>
      <p:sp>
        <p:nvSpPr>
          <p:cNvPr id="17" name="Text 13"/>
          <p:cNvSpPr/>
          <p:nvPr/>
        </p:nvSpPr>
        <p:spPr>
          <a:xfrm>
            <a:off x="1526363" y="2871788"/>
            <a:ext cx="33171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4361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13,9%</a:t>
            </a:r>
            <a:endParaRPr lang="en-US" sz="837" dirty="0"/>
          </a:p>
        </p:txBody>
      </p:sp>
      <p:sp>
        <p:nvSpPr>
          <p:cNvPr id="18" name="Text 14"/>
          <p:cNvSpPr/>
          <p:nvPr/>
        </p:nvSpPr>
        <p:spPr>
          <a:xfrm>
            <a:off x="1858073" y="2871788"/>
            <a:ext cx="17957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na identificação de carteiras com </a:t>
            </a:r>
            <a:endParaRPr lang="en-US" sz="837" dirty="0"/>
          </a:p>
        </p:txBody>
      </p:sp>
      <p:sp>
        <p:nvSpPr>
          <p:cNvPr id="19" name="Text 15"/>
          <p:cNvSpPr/>
          <p:nvPr/>
        </p:nvSpPr>
        <p:spPr>
          <a:xfrm>
            <a:off x="471488" y="3043238"/>
            <a:ext cx="28781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saldo</a:t>
            </a:r>
            <a:endParaRPr lang="en-US" sz="837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3307556"/>
            <a:ext cx="114300" cy="1143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71488" y="3286125"/>
            <a:ext cx="653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4361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</a:t>
            </a:r>
            <a:endParaRPr lang="en-US" sz="837" dirty="0"/>
          </a:p>
        </p:txBody>
      </p:sp>
      <p:sp>
        <p:nvSpPr>
          <p:cNvPr id="22" name="Text 17"/>
          <p:cNvSpPr/>
          <p:nvPr/>
        </p:nvSpPr>
        <p:spPr>
          <a:xfrm>
            <a:off x="536870" y="3286125"/>
            <a:ext cx="318898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endereços (19,4%) falharam devido a limites de taxa de API</a:t>
            </a:r>
            <a:endParaRPr lang="en-US" sz="837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3550444"/>
            <a:ext cx="85725" cy="1143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42913" y="3529013"/>
            <a:ext cx="114210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Velocidade média de </a:t>
            </a:r>
            <a:endParaRPr lang="en-US" sz="837" dirty="0"/>
          </a:p>
        </p:txBody>
      </p:sp>
      <p:sp>
        <p:nvSpPr>
          <p:cNvPr id="25" name="Text 19"/>
          <p:cNvSpPr/>
          <p:nvPr/>
        </p:nvSpPr>
        <p:spPr>
          <a:xfrm>
            <a:off x="1585020" y="3529013"/>
            <a:ext cx="22874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4361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1,17</a:t>
            </a:r>
            <a:endParaRPr lang="en-US" sz="837" dirty="0"/>
          </a:p>
        </p:txBody>
      </p:sp>
      <p:sp>
        <p:nvSpPr>
          <p:cNvPr id="26" name="Text 20"/>
          <p:cNvSpPr/>
          <p:nvPr/>
        </p:nvSpPr>
        <p:spPr>
          <a:xfrm>
            <a:off x="1813759" y="3529013"/>
            <a:ext cx="13040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endereços por segundo</a:t>
            </a:r>
            <a:endParaRPr lang="en-US" sz="837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3793331"/>
            <a:ext cx="114300" cy="1143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71488" y="3771900"/>
            <a:ext cx="13827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Saldo médio por carteira: </a:t>
            </a:r>
            <a:endParaRPr lang="en-US" sz="837" dirty="0"/>
          </a:p>
        </p:txBody>
      </p:sp>
      <p:sp>
        <p:nvSpPr>
          <p:cNvPr id="29" name="Text 22"/>
          <p:cNvSpPr/>
          <p:nvPr/>
        </p:nvSpPr>
        <p:spPr>
          <a:xfrm>
            <a:off x="1854194" y="3771900"/>
            <a:ext cx="45745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4361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6.217,97</a:t>
            </a:r>
            <a:endParaRPr lang="en-US" sz="837" dirty="0"/>
          </a:p>
        </p:txBody>
      </p:sp>
      <p:sp>
        <p:nvSpPr>
          <p:cNvPr id="30" name="Text 23"/>
          <p:cNvSpPr/>
          <p:nvPr/>
        </p:nvSpPr>
        <p:spPr>
          <a:xfrm>
            <a:off x="2311645" y="3771900"/>
            <a:ext cx="23753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BTC</a:t>
            </a:r>
            <a:endParaRPr lang="en-US" sz="837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750" y="4036219"/>
            <a:ext cx="128588" cy="1143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85775" y="4014788"/>
            <a:ext cx="164250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Uma carteira excepcional com </a:t>
            </a:r>
            <a:endParaRPr lang="en-US" sz="837" dirty="0"/>
          </a:p>
        </p:txBody>
      </p:sp>
      <p:sp>
        <p:nvSpPr>
          <p:cNvPr id="33" name="Text 25"/>
          <p:cNvSpPr/>
          <p:nvPr/>
        </p:nvSpPr>
        <p:spPr>
          <a:xfrm>
            <a:off x="2128279" y="4014788"/>
            <a:ext cx="66810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4361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31.000+ BTC</a:t>
            </a:r>
            <a:endParaRPr lang="en-US" sz="837" dirty="0"/>
          </a:p>
        </p:txBody>
      </p:sp>
      <p:sp>
        <p:nvSpPr>
          <p:cNvPr id="34" name="Text 26"/>
          <p:cNvSpPr/>
          <p:nvPr/>
        </p:nvSpPr>
        <p:spPr>
          <a:xfrm>
            <a:off x="2796387" y="4014788"/>
            <a:ext cx="6575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identificada</a:t>
            </a:r>
            <a:endParaRPr lang="en-US" sz="837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750" y="4350544"/>
            <a:ext cx="2857500" cy="5943600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4572000" y="1285875"/>
            <a:ext cx="4286250" cy="3143250"/>
          </a:xfrm>
          <a:prstGeom prst="rect">
            <a:avLst/>
          </a:prstGeom>
          <a:solidFill>
            <a:srgbClr val="16213E"/>
          </a:solidFill>
          <a:ln/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4875" y="1428750"/>
            <a:ext cx="4000500" cy="285750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6464564" y="10465594"/>
            <a:ext cx="256513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Slide 3/7 • Relatório de Varredura de Saldos Blockchain </a:t>
            </a:r>
            <a:endParaRPr lang="en-US" sz="73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0448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Integração ao FDR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14388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361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Processo de Consolidação de Carteiras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285750" y="1285875"/>
            <a:ext cx="4000500" cy="1757363"/>
          </a:xfrm>
          <a:prstGeom prst="rect">
            <a:avLst/>
          </a:prstGeom>
          <a:solidFill>
            <a:srgbClr val="16213E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906" y="1425178"/>
            <a:ext cx="160734" cy="1285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5078" y="1393031"/>
            <a:ext cx="312765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Integração ao Fundo Descentralizado de Reserva</a:t>
            </a:r>
            <a:endParaRPr lang="en-US" sz="942" dirty="0"/>
          </a:p>
        </p:txBody>
      </p:sp>
      <p:sp>
        <p:nvSpPr>
          <p:cNvPr id="8" name="Text 4"/>
          <p:cNvSpPr/>
          <p:nvPr/>
        </p:nvSpPr>
        <p:spPr>
          <a:xfrm>
            <a:off x="392906" y="1643063"/>
            <a:ext cx="378618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 5 carteiras com saldo positivo foram integradas ao FDR do bot de arbitragem, com uma estratégia de consolidação baseada em prioridades e valores.</a:t>
            </a:r>
            <a:endParaRPr lang="en-US" sz="837" dirty="0"/>
          </a:p>
        </p:txBody>
      </p:sp>
      <p:sp>
        <p:nvSpPr>
          <p:cNvPr id="9" name="Shape 5"/>
          <p:cNvSpPr/>
          <p:nvPr/>
        </p:nvSpPr>
        <p:spPr>
          <a:xfrm>
            <a:off x="392906" y="2264569"/>
            <a:ext cx="1211563" cy="671513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Shape 6"/>
          <p:cNvSpPr/>
          <p:nvPr/>
        </p:nvSpPr>
        <p:spPr>
          <a:xfrm>
            <a:off x="392906" y="2264569"/>
            <a:ext cx="28575" cy="671513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11" name="Text 7"/>
          <p:cNvSpPr/>
          <p:nvPr/>
        </p:nvSpPr>
        <p:spPr>
          <a:xfrm>
            <a:off x="464344" y="2336006"/>
            <a:ext cx="10686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4361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FASE 1: CRÍTICA</a:t>
            </a:r>
            <a:endParaRPr lang="en-US" sz="732" dirty="0"/>
          </a:p>
        </p:txBody>
      </p:sp>
      <p:sp>
        <p:nvSpPr>
          <p:cNvPr id="12" name="Text 8"/>
          <p:cNvSpPr/>
          <p:nvPr/>
        </p:nvSpPr>
        <p:spPr>
          <a:xfrm>
            <a:off x="464344" y="2521744"/>
            <a:ext cx="10686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carteira com 31.000 BTC</a:t>
            </a:r>
            <a:endParaRPr lang="en-US" sz="837" dirty="0"/>
          </a:p>
        </p:txBody>
      </p:sp>
      <p:sp>
        <p:nvSpPr>
          <p:cNvPr id="13" name="Shape 9"/>
          <p:cNvSpPr/>
          <p:nvPr/>
        </p:nvSpPr>
        <p:spPr>
          <a:xfrm>
            <a:off x="1680204" y="2264569"/>
            <a:ext cx="1211563" cy="671513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4" name="Shape 10"/>
          <p:cNvSpPr/>
          <p:nvPr/>
        </p:nvSpPr>
        <p:spPr>
          <a:xfrm>
            <a:off x="1680204" y="2264569"/>
            <a:ext cx="28575" cy="671513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15" name="Text 11"/>
          <p:cNvSpPr/>
          <p:nvPr/>
        </p:nvSpPr>
        <p:spPr>
          <a:xfrm>
            <a:off x="1751642" y="2336006"/>
            <a:ext cx="10686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4361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FASE 2: ALTA</a:t>
            </a:r>
            <a:endParaRPr lang="en-US" sz="732" dirty="0"/>
          </a:p>
        </p:txBody>
      </p:sp>
      <p:sp>
        <p:nvSpPr>
          <p:cNvPr id="16" name="Text 12"/>
          <p:cNvSpPr/>
          <p:nvPr/>
        </p:nvSpPr>
        <p:spPr>
          <a:xfrm>
            <a:off x="1751642" y="2521744"/>
            <a:ext cx="10686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carteira com 89,7 BTC</a:t>
            </a:r>
            <a:endParaRPr lang="en-US" sz="837" dirty="0"/>
          </a:p>
        </p:txBody>
      </p:sp>
      <p:sp>
        <p:nvSpPr>
          <p:cNvPr id="17" name="Shape 13"/>
          <p:cNvSpPr/>
          <p:nvPr/>
        </p:nvSpPr>
        <p:spPr>
          <a:xfrm>
            <a:off x="2967503" y="2264569"/>
            <a:ext cx="1211563" cy="671513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Shape 14"/>
          <p:cNvSpPr/>
          <p:nvPr/>
        </p:nvSpPr>
        <p:spPr>
          <a:xfrm>
            <a:off x="2967503" y="2264569"/>
            <a:ext cx="28575" cy="671513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19" name="Text 15"/>
          <p:cNvSpPr/>
          <p:nvPr/>
        </p:nvSpPr>
        <p:spPr>
          <a:xfrm>
            <a:off x="3038940" y="2336006"/>
            <a:ext cx="10686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4361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FASE 3: BAIXA</a:t>
            </a:r>
            <a:endParaRPr lang="en-US" sz="732" dirty="0"/>
          </a:p>
        </p:txBody>
      </p:sp>
      <p:sp>
        <p:nvSpPr>
          <p:cNvPr id="20" name="Text 16"/>
          <p:cNvSpPr/>
          <p:nvPr/>
        </p:nvSpPr>
        <p:spPr>
          <a:xfrm>
            <a:off x="3038940" y="2521744"/>
            <a:ext cx="10686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carteiras com 0,03 BTC</a:t>
            </a:r>
            <a:endParaRPr lang="en-US" sz="837" dirty="0"/>
          </a:p>
        </p:txBody>
      </p:sp>
      <p:sp>
        <p:nvSpPr>
          <p:cNvPr id="21" name="Shape 17"/>
          <p:cNvSpPr/>
          <p:nvPr/>
        </p:nvSpPr>
        <p:spPr>
          <a:xfrm>
            <a:off x="285750" y="3150394"/>
            <a:ext cx="4000500" cy="1207294"/>
          </a:xfrm>
          <a:prstGeom prst="rect">
            <a:avLst/>
          </a:prstGeom>
          <a:solidFill>
            <a:srgbClr val="16213E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906" y="3289697"/>
            <a:ext cx="128588" cy="12858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92931" y="3257550"/>
            <a:ext cx="143684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Segurança e Validação</a:t>
            </a:r>
            <a:endParaRPr lang="en-US" sz="942" dirty="0"/>
          </a:p>
        </p:txBody>
      </p:sp>
      <p:sp>
        <p:nvSpPr>
          <p:cNvPr id="24" name="Text 19"/>
          <p:cNvSpPr/>
          <p:nvPr/>
        </p:nvSpPr>
        <p:spPr>
          <a:xfrm>
            <a:off x="392906" y="3507581"/>
            <a:ext cx="37861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Todas as carteiras passaram por um processo de validação de saldo e autenticidade antes da integração ao FDR.</a:t>
            </a:r>
            <a:endParaRPr lang="en-US" sz="837" dirty="0"/>
          </a:p>
        </p:txBody>
      </p:sp>
      <p:sp>
        <p:nvSpPr>
          <p:cNvPr id="25" name="Text 20"/>
          <p:cNvSpPr/>
          <p:nvPr/>
        </p:nvSpPr>
        <p:spPr>
          <a:xfrm>
            <a:off x="392906" y="3914775"/>
            <a:ext cx="161872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Carteira exclusiva de custódia: </a:t>
            </a:r>
            <a:endParaRPr lang="en-US" sz="837" dirty="0"/>
          </a:p>
        </p:txBody>
      </p:sp>
      <p:sp>
        <p:nvSpPr>
          <p:cNvPr id="26" name="Text 21"/>
          <p:cNvSpPr/>
          <p:nvPr/>
        </p:nvSpPr>
        <p:spPr>
          <a:xfrm>
            <a:off x="392906" y="4086225"/>
            <a:ext cx="23991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4361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13m3xop6RnioRX6qrnkavLekv7cvu5DuMK</a:t>
            </a:r>
            <a:endParaRPr lang="en-US" sz="837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688" y="1285875"/>
            <a:ext cx="2857500" cy="5544387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5000625" y="6973137"/>
            <a:ext cx="3857625" cy="1785938"/>
          </a:xfrm>
          <a:prstGeom prst="rect">
            <a:avLst/>
          </a:prstGeom>
          <a:solidFill>
            <a:srgbClr val="16213E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7781" y="7080293"/>
            <a:ext cx="3643313" cy="1571625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464564" y="8787650"/>
            <a:ext cx="256513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Slide 4/7 • Relatório de Varredura de Saldos Blockchain </a:t>
            </a:r>
            <a:endParaRPr lang="en-US" sz="73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81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Preparação das Transferências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742950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361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Lotes e Cronograma de Execução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428625" y="1143000"/>
            <a:ext cx="4071938" cy="1493044"/>
          </a:xfrm>
          <a:prstGeom prst="rect">
            <a:avLst/>
          </a:prstGeom>
          <a:solidFill>
            <a:srgbClr val="16213E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81" y="1282303"/>
            <a:ext cx="128588" cy="1285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5806" y="1250156"/>
            <a:ext cx="144714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Lotes de Transferência</a:t>
            </a:r>
            <a:endParaRPr lang="en-US" sz="942" dirty="0"/>
          </a:p>
        </p:txBody>
      </p:sp>
      <p:sp>
        <p:nvSpPr>
          <p:cNvPr id="8" name="Text 4"/>
          <p:cNvSpPr/>
          <p:nvPr/>
        </p:nvSpPr>
        <p:spPr>
          <a:xfrm>
            <a:off x="535781" y="1500188"/>
            <a:ext cx="3857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 transferências foram organizadas em 3 lotes com base na prioridade e valor, todos direcionados para a carteira exclusiva de custódia.</a:t>
            </a:r>
            <a:endParaRPr lang="en-US" sz="837" dirty="0"/>
          </a:p>
        </p:txBody>
      </p:sp>
      <p:sp>
        <p:nvSpPr>
          <p:cNvPr id="9" name="Shape 5"/>
          <p:cNvSpPr/>
          <p:nvPr/>
        </p:nvSpPr>
        <p:spPr>
          <a:xfrm>
            <a:off x="535781" y="1914525"/>
            <a:ext cx="1234418" cy="614363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Shape 6"/>
          <p:cNvSpPr/>
          <p:nvPr/>
        </p:nvSpPr>
        <p:spPr>
          <a:xfrm>
            <a:off x="535781" y="1914525"/>
            <a:ext cx="28575" cy="614363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11" name="Text 7"/>
          <p:cNvSpPr/>
          <p:nvPr/>
        </p:nvSpPr>
        <p:spPr>
          <a:xfrm>
            <a:off x="607219" y="1985963"/>
            <a:ext cx="109154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4361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LOTE 1: CRÍTICO</a:t>
            </a:r>
            <a:endParaRPr lang="en-US" sz="732" dirty="0"/>
          </a:p>
        </p:txBody>
      </p:sp>
      <p:sp>
        <p:nvSpPr>
          <p:cNvPr id="12" name="Text 8"/>
          <p:cNvSpPr/>
          <p:nvPr/>
        </p:nvSpPr>
        <p:spPr>
          <a:xfrm>
            <a:off x="607219" y="2171700"/>
            <a:ext cx="109154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31.000,08 BTC</a:t>
            </a:r>
            <a:endParaRPr lang="en-US" sz="837" dirty="0"/>
          </a:p>
        </p:txBody>
      </p:sp>
      <p:sp>
        <p:nvSpPr>
          <p:cNvPr id="13" name="Text 9"/>
          <p:cNvSpPr/>
          <p:nvPr/>
        </p:nvSpPr>
        <p:spPr>
          <a:xfrm>
            <a:off x="607219" y="2343150"/>
            <a:ext cx="109154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carteira</a:t>
            </a:r>
            <a:endParaRPr lang="en-US" sz="628" dirty="0"/>
          </a:p>
        </p:txBody>
      </p:sp>
      <p:sp>
        <p:nvSpPr>
          <p:cNvPr id="14" name="Shape 10"/>
          <p:cNvSpPr/>
          <p:nvPr/>
        </p:nvSpPr>
        <p:spPr>
          <a:xfrm>
            <a:off x="1847385" y="1914525"/>
            <a:ext cx="1234418" cy="614363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5" name="Shape 11"/>
          <p:cNvSpPr/>
          <p:nvPr/>
        </p:nvSpPr>
        <p:spPr>
          <a:xfrm>
            <a:off x="1847385" y="1914525"/>
            <a:ext cx="28575" cy="614363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16" name="Text 12"/>
          <p:cNvSpPr/>
          <p:nvPr/>
        </p:nvSpPr>
        <p:spPr>
          <a:xfrm>
            <a:off x="1918822" y="1985963"/>
            <a:ext cx="109154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4361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LOTE 2: ALTA</a:t>
            </a:r>
            <a:endParaRPr lang="en-US" sz="732" dirty="0"/>
          </a:p>
        </p:txBody>
      </p:sp>
      <p:sp>
        <p:nvSpPr>
          <p:cNvPr id="17" name="Text 13"/>
          <p:cNvSpPr/>
          <p:nvPr/>
        </p:nvSpPr>
        <p:spPr>
          <a:xfrm>
            <a:off x="1918822" y="2171700"/>
            <a:ext cx="109154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89,73 BTC</a:t>
            </a:r>
            <a:endParaRPr lang="en-US" sz="837" dirty="0"/>
          </a:p>
        </p:txBody>
      </p:sp>
      <p:sp>
        <p:nvSpPr>
          <p:cNvPr id="18" name="Text 14"/>
          <p:cNvSpPr/>
          <p:nvPr/>
        </p:nvSpPr>
        <p:spPr>
          <a:xfrm>
            <a:off x="1918822" y="2343150"/>
            <a:ext cx="109154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carteira</a:t>
            </a:r>
            <a:endParaRPr lang="en-US" sz="628" dirty="0"/>
          </a:p>
        </p:txBody>
      </p:sp>
      <p:sp>
        <p:nvSpPr>
          <p:cNvPr id="19" name="Shape 15"/>
          <p:cNvSpPr/>
          <p:nvPr/>
        </p:nvSpPr>
        <p:spPr>
          <a:xfrm>
            <a:off x="3158989" y="1914525"/>
            <a:ext cx="1234418" cy="614363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Shape 16"/>
          <p:cNvSpPr/>
          <p:nvPr/>
        </p:nvSpPr>
        <p:spPr>
          <a:xfrm>
            <a:off x="3158989" y="1914525"/>
            <a:ext cx="28575" cy="614363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21" name="Text 17"/>
          <p:cNvSpPr/>
          <p:nvPr/>
        </p:nvSpPr>
        <p:spPr>
          <a:xfrm>
            <a:off x="3230426" y="1985963"/>
            <a:ext cx="109154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4361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LOTE 3: BAIXA</a:t>
            </a:r>
            <a:endParaRPr lang="en-US" sz="732" dirty="0"/>
          </a:p>
        </p:txBody>
      </p:sp>
      <p:sp>
        <p:nvSpPr>
          <p:cNvPr id="22" name="Text 18"/>
          <p:cNvSpPr/>
          <p:nvPr/>
        </p:nvSpPr>
        <p:spPr>
          <a:xfrm>
            <a:off x="3230426" y="2171700"/>
            <a:ext cx="109154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0,034 BTC</a:t>
            </a:r>
            <a:endParaRPr lang="en-US" sz="837" dirty="0"/>
          </a:p>
        </p:txBody>
      </p:sp>
      <p:sp>
        <p:nvSpPr>
          <p:cNvPr id="23" name="Text 19"/>
          <p:cNvSpPr/>
          <p:nvPr/>
        </p:nvSpPr>
        <p:spPr>
          <a:xfrm>
            <a:off x="3230426" y="2343150"/>
            <a:ext cx="109154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carteiras</a:t>
            </a:r>
            <a:endParaRPr lang="en-US" sz="628" dirty="0"/>
          </a:p>
        </p:txBody>
      </p:sp>
      <p:sp>
        <p:nvSpPr>
          <p:cNvPr id="24" name="Shape 20"/>
          <p:cNvSpPr/>
          <p:nvPr/>
        </p:nvSpPr>
        <p:spPr>
          <a:xfrm>
            <a:off x="428625" y="2743200"/>
            <a:ext cx="4071938" cy="1321594"/>
          </a:xfrm>
          <a:prstGeom prst="rect">
            <a:avLst/>
          </a:prstGeom>
          <a:solidFill>
            <a:srgbClr val="16213E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781" y="2882503"/>
            <a:ext cx="128588" cy="12858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35806" y="2850356"/>
            <a:ext cx="161817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Cronograma de Execução</a:t>
            </a:r>
            <a:endParaRPr lang="en-US" sz="942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781" y="3128963"/>
            <a:ext cx="85725" cy="1143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92944" y="3107531"/>
            <a:ext cx="110917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Execução Imediata:</a:t>
            </a:r>
            <a:endParaRPr lang="en-US" sz="837" dirty="0"/>
          </a:p>
        </p:txBody>
      </p:sp>
      <p:sp>
        <p:nvSpPr>
          <p:cNvPr id="29" name="Text 23"/>
          <p:cNvSpPr/>
          <p:nvPr/>
        </p:nvSpPr>
        <p:spPr>
          <a:xfrm>
            <a:off x="1802123" y="3107531"/>
            <a:ext cx="121432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Lote 1 (31.000,08 BTC) </a:t>
            </a:r>
            <a:endParaRPr lang="en-US" sz="837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781" y="3357563"/>
            <a:ext cx="85725" cy="1143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92944" y="3336131"/>
            <a:ext cx="100539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Execução em 24h:</a:t>
            </a:r>
            <a:endParaRPr lang="en-US" sz="837" dirty="0"/>
          </a:p>
        </p:txBody>
      </p:sp>
      <p:sp>
        <p:nvSpPr>
          <p:cNvPr id="32" name="Text 25"/>
          <p:cNvSpPr/>
          <p:nvPr/>
        </p:nvSpPr>
        <p:spPr>
          <a:xfrm>
            <a:off x="1698343" y="3336131"/>
            <a:ext cx="98756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Lote 2 (89,73 BTC) </a:t>
            </a:r>
            <a:endParaRPr lang="en-US" sz="837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781" y="3586163"/>
            <a:ext cx="100013" cy="1143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07231" y="3564731"/>
            <a:ext cx="102127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Execução Flexível:</a:t>
            </a:r>
            <a:endParaRPr lang="en-US" sz="837" dirty="0"/>
          </a:p>
        </p:txBody>
      </p:sp>
      <p:sp>
        <p:nvSpPr>
          <p:cNvPr id="35" name="Text 27"/>
          <p:cNvSpPr/>
          <p:nvPr/>
        </p:nvSpPr>
        <p:spPr>
          <a:xfrm>
            <a:off x="1728508" y="3564731"/>
            <a:ext cx="98756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Lote 3 (0,034 BTC) </a:t>
            </a:r>
            <a:endParaRPr lang="en-US" sz="837" dirty="0"/>
          </a:p>
        </p:txBody>
      </p:sp>
      <p:sp>
        <p:nvSpPr>
          <p:cNvPr id="36" name="Text 28"/>
          <p:cNvSpPr/>
          <p:nvPr/>
        </p:nvSpPr>
        <p:spPr>
          <a:xfrm>
            <a:off x="535781" y="3793331"/>
            <a:ext cx="113694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Carteira de custódia: </a:t>
            </a:r>
            <a:endParaRPr lang="en-US" sz="837" dirty="0"/>
          </a:p>
        </p:txBody>
      </p:sp>
      <p:sp>
        <p:nvSpPr>
          <p:cNvPr id="37" name="Text 29"/>
          <p:cNvSpPr/>
          <p:nvPr/>
        </p:nvSpPr>
        <p:spPr>
          <a:xfrm>
            <a:off x="1672726" y="3793331"/>
            <a:ext cx="23991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4361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13m3xop6RnioRX6qrnkavLekv7cvu5DuMK</a:t>
            </a:r>
            <a:endParaRPr lang="en-US" sz="837" dirty="0"/>
          </a:p>
        </p:txBody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57813" y="1143000"/>
            <a:ext cx="2857500" cy="2173709"/>
          </a:xfrm>
          <a:prstGeom prst="rect">
            <a:avLst/>
          </a:prstGeom>
        </p:spPr>
      </p:pic>
      <p:sp>
        <p:nvSpPr>
          <p:cNvPr id="39" name="Shape 30"/>
          <p:cNvSpPr/>
          <p:nvPr/>
        </p:nvSpPr>
        <p:spPr>
          <a:xfrm>
            <a:off x="4857750" y="3423865"/>
            <a:ext cx="3857625" cy="1571625"/>
          </a:xfrm>
          <a:prstGeom prst="rect">
            <a:avLst/>
          </a:prstGeom>
          <a:solidFill>
            <a:srgbClr val="16213E"/>
          </a:solidFill>
          <a:ln/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4906" y="3531022"/>
            <a:ext cx="3643313" cy="1357313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6464564" y="5024065"/>
            <a:ext cx="256513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Slide 5/7 • Relatório de Varredura de Saldos Blockchain </a:t>
            </a:r>
            <a:endParaRPr lang="en-US" sz="73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0150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Medidas de Segurança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14388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361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Proteção de Chaves e Transferências Seguras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285750" y="1285875"/>
            <a:ext cx="4000500" cy="2114550"/>
          </a:xfrm>
          <a:prstGeom prst="rect">
            <a:avLst/>
          </a:prstGeom>
          <a:solidFill>
            <a:srgbClr val="16213E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906" y="1425178"/>
            <a:ext cx="128588" cy="1285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2931" y="1393031"/>
            <a:ext cx="18382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Proteção de Chaves Privadas</a:t>
            </a:r>
            <a:endParaRPr lang="en-US" sz="942" dirty="0"/>
          </a:p>
        </p:txBody>
      </p:sp>
      <p:sp>
        <p:nvSpPr>
          <p:cNvPr id="8" name="Text 4"/>
          <p:cNvSpPr/>
          <p:nvPr/>
        </p:nvSpPr>
        <p:spPr>
          <a:xfrm>
            <a:off x="392906" y="1643063"/>
            <a:ext cx="378618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Implementação de medidas robustas para proteger as chaves privadas das carteiras identificadas durante todo o processo de integração e transferência.</a:t>
            </a:r>
            <a:endParaRPr lang="en-US" sz="837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906" y="2286000"/>
            <a:ext cx="100013" cy="1143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64356" y="2264569"/>
            <a:ext cx="349220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Criptografia AES-256 para armazenamento temporário de chaves</a:t>
            </a:r>
            <a:endParaRPr lang="en-US" sz="837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906" y="2543175"/>
            <a:ext cx="142875" cy="1143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07219" y="2521744"/>
            <a:ext cx="287591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Acesso restrito com autenticação de múltiplos fatores</a:t>
            </a:r>
            <a:endParaRPr lang="en-US" sz="837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906" y="2800350"/>
            <a:ext cx="128588" cy="1143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92931" y="2778919"/>
            <a:ext cx="25984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Assinaturas digitais para validação de operações</a:t>
            </a:r>
            <a:endParaRPr lang="en-US" sz="837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906" y="3057525"/>
            <a:ext cx="114300" cy="1143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78644" y="3036094"/>
            <a:ext cx="29301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Logs de auditoria para todas as interações com chaves</a:t>
            </a:r>
            <a:endParaRPr lang="en-US" sz="837" dirty="0"/>
          </a:p>
        </p:txBody>
      </p:sp>
      <p:sp>
        <p:nvSpPr>
          <p:cNvPr id="17" name="Shape 9"/>
          <p:cNvSpPr/>
          <p:nvPr/>
        </p:nvSpPr>
        <p:spPr>
          <a:xfrm>
            <a:off x="285750" y="3507581"/>
            <a:ext cx="4000500" cy="2114550"/>
          </a:xfrm>
          <a:prstGeom prst="rect">
            <a:avLst/>
          </a:prstGeom>
          <a:solidFill>
            <a:srgbClr val="16213E"/>
          </a:solidFill>
          <a:ln/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906" y="3646884"/>
            <a:ext cx="128588" cy="12858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92931" y="3614738"/>
            <a:ext cx="148238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Transferências Seguras</a:t>
            </a:r>
            <a:endParaRPr lang="en-US" sz="942" dirty="0"/>
          </a:p>
        </p:txBody>
      </p:sp>
      <p:sp>
        <p:nvSpPr>
          <p:cNvPr id="20" name="Text 11"/>
          <p:cNvSpPr/>
          <p:nvPr/>
        </p:nvSpPr>
        <p:spPr>
          <a:xfrm>
            <a:off x="392906" y="3864769"/>
            <a:ext cx="378618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Protocolo de segurança para garantir a integridade e confidencialidade das transferências para a carteira exclusiva de custódia.</a:t>
            </a:r>
            <a:endParaRPr lang="en-US" sz="837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906" y="4507706"/>
            <a:ext cx="114300" cy="11430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78644" y="4486275"/>
            <a:ext cx="296061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Verificação dupla para transferências acima de 100 BTC</a:t>
            </a:r>
            <a:endParaRPr lang="en-US" sz="837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2906" y="4764881"/>
            <a:ext cx="142875" cy="11430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607219" y="4743450"/>
            <a:ext cx="270617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Conexão segura via VPN dedicada para transações</a:t>
            </a:r>
            <a:endParaRPr lang="en-US" sz="837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2906" y="5022056"/>
            <a:ext cx="85725" cy="114300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550069" y="5000625"/>
            <a:ext cx="3164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Validação de endereços com checksums antes da execução</a:t>
            </a:r>
            <a:endParaRPr lang="en-US" sz="837" dirty="0"/>
          </a:p>
        </p:txBody>
      </p:sp>
      <p:pic>
        <p:nvPicPr>
          <p:cNvPr id="2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2906" y="5279231"/>
            <a:ext cx="128588" cy="114300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592931" y="5257800"/>
            <a:ext cx="281795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Backup de segurança de todas as transações criadas</a:t>
            </a:r>
            <a:endParaRPr lang="en-US" sz="837" dirty="0"/>
          </a:p>
        </p:txBody>
      </p:sp>
      <p:pic>
        <p:nvPicPr>
          <p:cNvPr id="2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22094" y="1285875"/>
            <a:ext cx="3214688" cy="1809266"/>
          </a:xfrm>
          <a:prstGeom prst="rect">
            <a:avLst/>
          </a:prstGeom>
        </p:spPr>
      </p:pic>
      <p:sp>
        <p:nvSpPr>
          <p:cNvPr id="30" name="Shape 16"/>
          <p:cNvSpPr/>
          <p:nvPr/>
        </p:nvSpPr>
        <p:spPr>
          <a:xfrm>
            <a:off x="5000625" y="3238016"/>
            <a:ext cx="3857625" cy="1785938"/>
          </a:xfrm>
          <a:prstGeom prst="rect">
            <a:avLst/>
          </a:prstGeom>
          <a:solidFill>
            <a:srgbClr val="16213E"/>
          </a:solidFill>
          <a:ln/>
        </p:spPr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07781" y="3345173"/>
            <a:ext cx="3643313" cy="1571625"/>
          </a:xfrm>
          <a:prstGeom prst="rect">
            <a:avLst/>
          </a:prstGeom>
        </p:spPr>
      </p:pic>
      <p:sp>
        <p:nvSpPr>
          <p:cNvPr id="32" name="Text 17"/>
          <p:cNvSpPr/>
          <p:nvPr/>
        </p:nvSpPr>
        <p:spPr>
          <a:xfrm>
            <a:off x="6464564" y="5757863"/>
            <a:ext cx="256513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Slide 5/7 • Relatório de Varredura de Saldos Blockchain </a:t>
            </a:r>
            <a:endParaRPr lang="en-US" sz="73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08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Próximos Passos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14388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361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Plano de Ação para Consolidação de Fundos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285750" y="1285875"/>
            <a:ext cx="285750" cy="28575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6" name="Text 3"/>
          <p:cNvSpPr/>
          <p:nvPr/>
        </p:nvSpPr>
        <p:spPr>
          <a:xfrm>
            <a:off x="285750" y="1285875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046" dirty="0"/>
          </a:p>
        </p:txBody>
      </p:sp>
      <p:sp>
        <p:nvSpPr>
          <p:cNvPr id="7" name="Text 4"/>
          <p:cNvSpPr/>
          <p:nvPr/>
        </p:nvSpPr>
        <p:spPr>
          <a:xfrm>
            <a:off x="678656" y="1285875"/>
            <a:ext cx="360759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Integração com o FDR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678656" y="1514475"/>
            <a:ext cx="360759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Integrar as carteiras identificadas com saldo positivo ao Fundo Descentralizado de Reserva (FDR), priorizando a carteira de alto valor (12ib7dApVFvg82TXKycWBNpN8kFyiAN1dr).</a:t>
            </a:r>
            <a:endParaRPr lang="en-US" sz="837" dirty="0"/>
          </a:p>
        </p:txBody>
      </p:sp>
      <p:sp>
        <p:nvSpPr>
          <p:cNvPr id="9" name="Shape 6"/>
          <p:cNvSpPr/>
          <p:nvPr/>
        </p:nvSpPr>
        <p:spPr>
          <a:xfrm>
            <a:off x="285750" y="2207419"/>
            <a:ext cx="285750" cy="28575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10" name="Text 7"/>
          <p:cNvSpPr/>
          <p:nvPr/>
        </p:nvSpPr>
        <p:spPr>
          <a:xfrm>
            <a:off x="285750" y="2207419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046" dirty="0"/>
          </a:p>
        </p:txBody>
      </p:sp>
      <p:sp>
        <p:nvSpPr>
          <p:cNvPr id="11" name="Text 8"/>
          <p:cNvSpPr/>
          <p:nvPr/>
        </p:nvSpPr>
        <p:spPr>
          <a:xfrm>
            <a:off x="678656" y="2207419"/>
            <a:ext cx="360759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Preparação de PSBTs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678656" y="2436019"/>
            <a:ext cx="360759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Criar Partially Signed Bitcoin Transactions (PSBTs) para transferência segura dos fundos para a carteira exclusiva de custódia (13m3xop6RnioRX6qrnkavLekv7cvu5DuMK).</a:t>
            </a:r>
            <a:endParaRPr lang="en-US" sz="837" dirty="0"/>
          </a:p>
        </p:txBody>
      </p:sp>
      <p:sp>
        <p:nvSpPr>
          <p:cNvPr id="13" name="Shape 10"/>
          <p:cNvSpPr/>
          <p:nvPr/>
        </p:nvSpPr>
        <p:spPr>
          <a:xfrm>
            <a:off x="285750" y="3128963"/>
            <a:ext cx="285750" cy="28575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14" name="Text 11"/>
          <p:cNvSpPr/>
          <p:nvPr/>
        </p:nvSpPr>
        <p:spPr>
          <a:xfrm>
            <a:off x="285750" y="3128963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046" dirty="0"/>
          </a:p>
        </p:txBody>
      </p:sp>
      <p:sp>
        <p:nvSpPr>
          <p:cNvPr id="15" name="Text 12"/>
          <p:cNvSpPr/>
          <p:nvPr/>
        </p:nvSpPr>
        <p:spPr>
          <a:xfrm>
            <a:off x="678656" y="3128963"/>
            <a:ext cx="360759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Monitoramento Contínuo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678656" y="3357563"/>
            <a:ext cx="360759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Implementar sistema de monitoramento contínuo para as carteiras identificadas, com alertas automáticos para movimentações e mudanças de saldo.</a:t>
            </a:r>
            <a:endParaRPr lang="en-US" sz="837" dirty="0"/>
          </a:p>
        </p:txBody>
      </p:sp>
      <p:sp>
        <p:nvSpPr>
          <p:cNvPr id="17" name="Shape 14"/>
          <p:cNvSpPr/>
          <p:nvPr/>
        </p:nvSpPr>
        <p:spPr>
          <a:xfrm>
            <a:off x="285750" y="4050506"/>
            <a:ext cx="285750" cy="28575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18" name="Text 15"/>
          <p:cNvSpPr/>
          <p:nvPr/>
        </p:nvSpPr>
        <p:spPr>
          <a:xfrm>
            <a:off x="285750" y="4050506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046" dirty="0"/>
          </a:p>
        </p:txBody>
      </p:sp>
      <p:sp>
        <p:nvSpPr>
          <p:cNvPr id="19" name="Text 16"/>
          <p:cNvSpPr/>
          <p:nvPr/>
        </p:nvSpPr>
        <p:spPr>
          <a:xfrm>
            <a:off x="678656" y="4050506"/>
            <a:ext cx="360759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Expansão da Varredura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678656" y="4279106"/>
            <a:ext cx="360759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Ampliar a varredura para os arquivos restantes, incluindo os formatos criptografados (BIE1), após implementação de decodificadores específicos.</a:t>
            </a:r>
            <a:endParaRPr lang="en-US" sz="837" dirty="0"/>
          </a:p>
        </p:txBody>
      </p:sp>
      <p:sp>
        <p:nvSpPr>
          <p:cNvPr id="21" name="Shape 18"/>
          <p:cNvSpPr/>
          <p:nvPr/>
        </p:nvSpPr>
        <p:spPr>
          <a:xfrm>
            <a:off x="285750" y="5007769"/>
            <a:ext cx="4000500" cy="1557338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2" name="Text 19"/>
          <p:cNvSpPr/>
          <p:nvPr/>
        </p:nvSpPr>
        <p:spPr>
          <a:xfrm>
            <a:off x="428625" y="5150644"/>
            <a:ext cx="37147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Cronograma de Implementação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428625" y="5450681"/>
            <a:ext cx="857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4361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Imediato</a:t>
            </a:r>
            <a:endParaRPr lang="en-US" sz="837" dirty="0"/>
          </a:p>
        </p:txBody>
      </p:sp>
      <p:sp>
        <p:nvSpPr>
          <p:cNvPr id="24" name="Text 21"/>
          <p:cNvSpPr/>
          <p:nvPr/>
        </p:nvSpPr>
        <p:spPr>
          <a:xfrm>
            <a:off x="1285875" y="5450681"/>
            <a:ext cx="2857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Integração da carteira principal (31.000+ BTC)</a:t>
            </a:r>
            <a:endParaRPr lang="en-US" sz="837" dirty="0"/>
          </a:p>
        </p:txBody>
      </p:sp>
      <p:sp>
        <p:nvSpPr>
          <p:cNvPr id="25" name="Text 22"/>
          <p:cNvSpPr/>
          <p:nvPr/>
        </p:nvSpPr>
        <p:spPr>
          <a:xfrm>
            <a:off x="428625" y="5693569"/>
            <a:ext cx="857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4361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dias</a:t>
            </a:r>
            <a:endParaRPr lang="en-US" sz="837" dirty="0"/>
          </a:p>
        </p:txBody>
      </p:sp>
      <p:sp>
        <p:nvSpPr>
          <p:cNvPr id="26" name="Text 23"/>
          <p:cNvSpPr/>
          <p:nvPr/>
        </p:nvSpPr>
        <p:spPr>
          <a:xfrm>
            <a:off x="1285875" y="5693569"/>
            <a:ext cx="2857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Implementação do sistema de monitoramento</a:t>
            </a:r>
            <a:endParaRPr lang="en-US" sz="837" dirty="0"/>
          </a:p>
        </p:txBody>
      </p:sp>
      <p:sp>
        <p:nvSpPr>
          <p:cNvPr id="27" name="Text 24"/>
          <p:cNvSpPr/>
          <p:nvPr/>
        </p:nvSpPr>
        <p:spPr>
          <a:xfrm>
            <a:off x="428625" y="5936456"/>
            <a:ext cx="857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4361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 dias</a:t>
            </a:r>
            <a:endParaRPr lang="en-US" sz="837" dirty="0"/>
          </a:p>
        </p:txBody>
      </p:sp>
      <p:sp>
        <p:nvSpPr>
          <p:cNvPr id="28" name="Text 25"/>
          <p:cNvSpPr/>
          <p:nvPr/>
        </p:nvSpPr>
        <p:spPr>
          <a:xfrm>
            <a:off x="1285875" y="5936456"/>
            <a:ext cx="2857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Integração das carteiras secundárias</a:t>
            </a:r>
            <a:endParaRPr lang="en-US" sz="837" dirty="0"/>
          </a:p>
        </p:txBody>
      </p:sp>
      <p:sp>
        <p:nvSpPr>
          <p:cNvPr id="29" name="Text 26"/>
          <p:cNvSpPr/>
          <p:nvPr/>
        </p:nvSpPr>
        <p:spPr>
          <a:xfrm>
            <a:off x="428625" y="6179344"/>
            <a:ext cx="857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4361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30 dias</a:t>
            </a:r>
            <a:endParaRPr lang="en-US" sz="837" dirty="0"/>
          </a:p>
        </p:txBody>
      </p:sp>
      <p:sp>
        <p:nvSpPr>
          <p:cNvPr id="30" name="Text 27"/>
          <p:cNvSpPr/>
          <p:nvPr/>
        </p:nvSpPr>
        <p:spPr>
          <a:xfrm>
            <a:off x="1285875" y="6179344"/>
            <a:ext cx="2857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Expansão da varredura e decodificação BIE1</a:t>
            </a:r>
            <a:endParaRPr lang="en-US" sz="837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2094" y="1285875"/>
            <a:ext cx="3214688" cy="2242021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5000625" y="3670771"/>
            <a:ext cx="3857625" cy="1785938"/>
          </a:xfrm>
          <a:prstGeom prst="rect">
            <a:avLst/>
          </a:prstGeom>
          <a:solidFill>
            <a:srgbClr val="16213E"/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7781" y="3777928"/>
            <a:ext cx="3643313" cy="1571625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464564" y="6593681"/>
            <a:ext cx="256513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Slide 7/7 • Relatório de Varredura de Saldos Blockchain </a:t>
            </a:r>
            <a:endParaRPr lang="en-US" sz="73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2025-08-18T11:08:52Z</dcterms:created>
  <dcterms:modified xsi:type="dcterms:W3CDTF">2025-08-18T11:08:52Z</dcterms:modified>
</cp:coreProperties>
</file>