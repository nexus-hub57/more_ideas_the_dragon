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Relatório de Varredura de Saldos Blockchain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1438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Visão Geral da Varredura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85750" y="1285875"/>
            <a:ext cx="4000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Este relatório apresenta os resultados da varredura de saldos em carteiras Bitcoin, utilizando múltiplas APIs blockchain para identificar endereços com saldo positivo.</a:t>
            </a:r>
            <a:endParaRPr lang="en-US" sz="837" dirty="0"/>
          </a:p>
        </p:txBody>
      </p:sp>
      <p:sp>
        <p:nvSpPr>
          <p:cNvPr id="6" name="Text 3"/>
          <p:cNvSpPr/>
          <p:nvPr/>
        </p:nvSpPr>
        <p:spPr>
          <a:xfrm>
            <a:off x="285750" y="1978819"/>
            <a:ext cx="13524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Objetivos da Varredura:</a:t>
            </a:r>
            <a:endParaRPr lang="en-US" sz="837" dirty="0"/>
          </a:p>
        </p:txBody>
      </p:sp>
      <p:sp>
        <p:nvSpPr>
          <p:cNvPr id="7" name="Text 4"/>
          <p:cNvSpPr/>
          <p:nvPr/>
        </p:nvSpPr>
        <p:spPr>
          <a:xfrm>
            <a:off x="457200" y="2200275"/>
            <a:ext cx="38290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Identificar carteiras com saldo positivo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457200" y="2371725"/>
            <a:ext cx="38290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Quantificar o valor total disponível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457200" y="2543175"/>
            <a:ext cx="38290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Priorizar carteiras para integração ao FDR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457200" y="2714625"/>
            <a:ext cx="38290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Validar a viabilidade de consolidação de fundos</a:t>
            </a:r>
            <a:endParaRPr lang="en-US" sz="837" dirty="0"/>
          </a:p>
        </p:txBody>
      </p:sp>
      <p:sp>
        <p:nvSpPr>
          <p:cNvPr id="11" name="Shape 8"/>
          <p:cNvSpPr/>
          <p:nvPr/>
        </p:nvSpPr>
        <p:spPr>
          <a:xfrm>
            <a:off x="285750" y="3128963"/>
            <a:ext cx="1666866" cy="642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392906" y="3236119"/>
            <a:ext cx="145255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36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92906" y="3493294"/>
            <a:ext cx="145255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Endereços Verificados</a:t>
            </a:r>
            <a:endParaRPr lang="en-US" sz="837" dirty="0"/>
          </a:p>
        </p:txBody>
      </p:sp>
      <p:sp>
        <p:nvSpPr>
          <p:cNvPr id="14" name="Shape 11"/>
          <p:cNvSpPr/>
          <p:nvPr/>
        </p:nvSpPr>
        <p:spPr>
          <a:xfrm>
            <a:off x="1952616" y="3128963"/>
            <a:ext cx="1666866" cy="642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2059772" y="3236119"/>
            <a:ext cx="145255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2059772" y="3493294"/>
            <a:ext cx="145255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Carteiras com Saldo</a:t>
            </a:r>
            <a:endParaRPr lang="en-US" sz="837" dirty="0"/>
          </a:p>
        </p:txBody>
      </p:sp>
      <p:sp>
        <p:nvSpPr>
          <p:cNvPr id="17" name="Shape 14"/>
          <p:cNvSpPr/>
          <p:nvPr/>
        </p:nvSpPr>
        <p:spPr>
          <a:xfrm>
            <a:off x="285750" y="3914775"/>
            <a:ext cx="1666866" cy="642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392906" y="4021931"/>
            <a:ext cx="145255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31.089,84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392906" y="4279106"/>
            <a:ext cx="145255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BTC Encontrados</a:t>
            </a:r>
            <a:endParaRPr lang="en-US" sz="837" dirty="0"/>
          </a:p>
        </p:txBody>
      </p:sp>
      <p:sp>
        <p:nvSpPr>
          <p:cNvPr id="20" name="Shape 17"/>
          <p:cNvSpPr/>
          <p:nvPr/>
        </p:nvSpPr>
        <p:spPr>
          <a:xfrm>
            <a:off x="1952616" y="3914775"/>
            <a:ext cx="1666866" cy="642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2059772" y="4021931"/>
            <a:ext cx="145255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30,7s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2059772" y="4279106"/>
            <a:ext cx="145255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Tempo de Varredura</a:t>
            </a:r>
            <a:endParaRPr lang="en-US" sz="837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926022"/>
            <a:ext cx="3571875" cy="2062981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464564" y="4886325"/>
            <a:ext cx="256513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Slide 1/7 • Relatório de Varredura de Saldos Blockchain </a:t>
            </a:r>
            <a:endParaRPr lang="en-US" sz="73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292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Metodologia e Ferramentas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1438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Estratégias para Varredura Eficiente de Saldos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85750" y="1285875"/>
            <a:ext cx="4000500" cy="80724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06" y="1425178"/>
            <a:ext cx="128588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2931" y="1393031"/>
            <a:ext cx="11440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Sistema Multi-API</a:t>
            </a:r>
            <a:endParaRPr lang="en-US" sz="942" dirty="0"/>
          </a:p>
        </p:txBody>
      </p:sp>
      <p:sp>
        <p:nvSpPr>
          <p:cNvPr id="8" name="Text 4"/>
          <p:cNvSpPr/>
          <p:nvPr/>
        </p:nvSpPr>
        <p:spPr>
          <a:xfrm>
            <a:off x="392906" y="1643063"/>
            <a:ext cx="3786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Utilização de múltiplas APIs blockchain com failover automático para contornar limites de taxa e garantir alta disponibilidade.</a:t>
            </a:r>
            <a:endParaRPr lang="en-US" sz="837" dirty="0"/>
          </a:p>
        </p:txBody>
      </p:sp>
      <p:sp>
        <p:nvSpPr>
          <p:cNvPr id="9" name="Shape 5"/>
          <p:cNvSpPr/>
          <p:nvPr/>
        </p:nvSpPr>
        <p:spPr>
          <a:xfrm>
            <a:off x="285750" y="2200275"/>
            <a:ext cx="4000500" cy="80724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06" y="2339578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2931" y="2307431"/>
            <a:ext cx="160299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Processamento em Lotes</a:t>
            </a:r>
            <a:endParaRPr lang="en-US" sz="942" dirty="0"/>
          </a:p>
        </p:txBody>
      </p:sp>
      <p:sp>
        <p:nvSpPr>
          <p:cNvPr id="12" name="Text 7"/>
          <p:cNvSpPr/>
          <p:nvPr/>
        </p:nvSpPr>
        <p:spPr>
          <a:xfrm>
            <a:off x="392906" y="2557463"/>
            <a:ext cx="3786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Varredura de endereços em lotes otimizados, com controle de taxa para evitar bloqueios de API.</a:t>
            </a:r>
            <a:endParaRPr lang="en-US" sz="837" dirty="0"/>
          </a:p>
        </p:txBody>
      </p:sp>
      <p:sp>
        <p:nvSpPr>
          <p:cNvPr id="13" name="Shape 8"/>
          <p:cNvSpPr/>
          <p:nvPr/>
        </p:nvSpPr>
        <p:spPr>
          <a:xfrm>
            <a:off x="285750" y="3114675"/>
            <a:ext cx="4000500" cy="80724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3253978"/>
            <a:ext cx="128588" cy="128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92931" y="3221831"/>
            <a:ext cx="149909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Validação de Endereços</a:t>
            </a:r>
            <a:endParaRPr lang="en-US" sz="942" dirty="0"/>
          </a:p>
        </p:txBody>
      </p:sp>
      <p:sp>
        <p:nvSpPr>
          <p:cNvPr id="16" name="Text 10"/>
          <p:cNvSpPr/>
          <p:nvPr/>
        </p:nvSpPr>
        <p:spPr>
          <a:xfrm>
            <a:off x="392906" y="3471863"/>
            <a:ext cx="37861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Verificação automática da validade dos endereços Bitcoin, com suporte a formatos Legacy, P2SH e SegWit (Bech32).</a:t>
            </a:r>
            <a:endParaRPr lang="en-US" sz="837" dirty="0"/>
          </a:p>
        </p:txBody>
      </p:sp>
      <p:sp>
        <p:nvSpPr>
          <p:cNvPr id="17" name="Shape 11"/>
          <p:cNvSpPr/>
          <p:nvPr/>
        </p:nvSpPr>
        <p:spPr>
          <a:xfrm>
            <a:off x="285750" y="4064794"/>
            <a:ext cx="1057554" cy="31432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2"/>
          <p:cNvSpPr/>
          <p:nvPr/>
        </p:nvSpPr>
        <p:spPr>
          <a:xfrm>
            <a:off x="285750" y="4064794"/>
            <a:ext cx="1057554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</a:t>
            </a:r>
            <a:endParaRPr lang="en-US" sz="837" dirty="0"/>
          </a:p>
        </p:txBody>
      </p:sp>
      <p:sp>
        <p:nvSpPr>
          <p:cNvPr id="19" name="Shape 13"/>
          <p:cNvSpPr/>
          <p:nvPr/>
        </p:nvSpPr>
        <p:spPr>
          <a:xfrm>
            <a:off x="1343304" y="4064794"/>
            <a:ext cx="804035" cy="31432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4"/>
          <p:cNvSpPr/>
          <p:nvPr/>
        </p:nvSpPr>
        <p:spPr>
          <a:xfrm>
            <a:off x="1343304" y="4064794"/>
            <a:ext cx="804035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Rate Limit</a:t>
            </a:r>
            <a:endParaRPr lang="en-US" sz="837" dirty="0"/>
          </a:p>
        </p:txBody>
      </p:sp>
      <p:sp>
        <p:nvSpPr>
          <p:cNvPr id="21" name="Shape 15"/>
          <p:cNvSpPr/>
          <p:nvPr/>
        </p:nvSpPr>
        <p:spPr>
          <a:xfrm>
            <a:off x="2147339" y="4064794"/>
            <a:ext cx="2138911" cy="31432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6"/>
          <p:cNvSpPr/>
          <p:nvPr/>
        </p:nvSpPr>
        <p:spPr>
          <a:xfrm>
            <a:off x="2147339" y="4064794"/>
            <a:ext cx="2138911" cy="31432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Características</a:t>
            </a:r>
            <a:endParaRPr lang="en-US" sz="837" dirty="0"/>
          </a:p>
        </p:txBody>
      </p:sp>
      <p:sp>
        <p:nvSpPr>
          <p:cNvPr id="23" name="Text 17"/>
          <p:cNvSpPr/>
          <p:nvPr/>
        </p:nvSpPr>
        <p:spPr>
          <a:xfrm>
            <a:off x="285750" y="4379119"/>
            <a:ext cx="1057554" cy="31789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BlockCypher</a:t>
            </a:r>
            <a:endParaRPr lang="en-US" sz="837" dirty="0"/>
          </a:p>
        </p:txBody>
      </p:sp>
      <p:sp>
        <p:nvSpPr>
          <p:cNvPr id="24" name="Text 18"/>
          <p:cNvSpPr/>
          <p:nvPr/>
        </p:nvSpPr>
        <p:spPr>
          <a:xfrm>
            <a:off x="1343304" y="4379119"/>
            <a:ext cx="804035" cy="31789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3.0s</a:t>
            </a:r>
            <a:endParaRPr lang="en-US" sz="837" dirty="0"/>
          </a:p>
        </p:txBody>
      </p:sp>
      <p:sp>
        <p:nvSpPr>
          <p:cNvPr id="25" name="Text 19"/>
          <p:cNvSpPr/>
          <p:nvPr/>
        </p:nvSpPr>
        <p:spPr>
          <a:xfrm>
            <a:off x="2147339" y="4379119"/>
            <a:ext cx="2138911" cy="317897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Dados detalhados, alta precisão</a:t>
            </a:r>
            <a:endParaRPr lang="en-US" sz="837" dirty="0"/>
          </a:p>
        </p:txBody>
      </p:sp>
      <p:sp>
        <p:nvSpPr>
          <p:cNvPr id="26" name="Shape 20"/>
          <p:cNvSpPr/>
          <p:nvPr/>
        </p:nvSpPr>
        <p:spPr>
          <a:xfrm>
            <a:off x="285750" y="4697016"/>
            <a:ext cx="4000500" cy="321469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7" name="Text 21"/>
          <p:cNvSpPr/>
          <p:nvPr/>
        </p:nvSpPr>
        <p:spPr>
          <a:xfrm>
            <a:off x="285750" y="4697016"/>
            <a:ext cx="1057554" cy="32146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Blockchain.info</a:t>
            </a:r>
            <a:endParaRPr lang="en-US" sz="837" dirty="0"/>
          </a:p>
        </p:txBody>
      </p:sp>
      <p:sp>
        <p:nvSpPr>
          <p:cNvPr id="28" name="Text 22"/>
          <p:cNvSpPr/>
          <p:nvPr/>
        </p:nvSpPr>
        <p:spPr>
          <a:xfrm>
            <a:off x="1343304" y="4697016"/>
            <a:ext cx="804035" cy="32146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1.0s</a:t>
            </a:r>
            <a:endParaRPr lang="en-US" sz="837" dirty="0"/>
          </a:p>
        </p:txBody>
      </p:sp>
      <p:sp>
        <p:nvSpPr>
          <p:cNvPr id="29" name="Text 23"/>
          <p:cNvSpPr/>
          <p:nvPr/>
        </p:nvSpPr>
        <p:spPr>
          <a:xfrm>
            <a:off x="2147339" y="4697016"/>
            <a:ext cx="2138911" cy="32146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Resposta rápida, formato simples</a:t>
            </a:r>
            <a:endParaRPr lang="en-US" sz="837" dirty="0"/>
          </a:p>
        </p:txBody>
      </p:sp>
      <p:sp>
        <p:nvSpPr>
          <p:cNvPr id="30" name="Text 24"/>
          <p:cNvSpPr/>
          <p:nvPr/>
        </p:nvSpPr>
        <p:spPr>
          <a:xfrm>
            <a:off x="285750" y="5018484"/>
            <a:ext cx="1057554" cy="32146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BlockStream</a:t>
            </a:r>
            <a:endParaRPr lang="en-US" sz="837" dirty="0"/>
          </a:p>
        </p:txBody>
      </p:sp>
      <p:sp>
        <p:nvSpPr>
          <p:cNvPr id="31" name="Text 25"/>
          <p:cNvSpPr/>
          <p:nvPr/>
        </p:nvSpPr>
        <p:spPr>
          <a:xfrm>
            <a:off x="1343304" y="5018484"/>
            <a:ext cx="804035" cy="32146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0.5s</a:t>
            </a:r>
            <a:endParaRPr lang="en-US" sz="837" dirty="0"/>
          </a:p>
        </p:txBody>
      </p:sp>
      <p:sp>
        <p:nvSpPr>
          <p:cNvPr id="32" name="Text 26"/>
          <p:cNvSpPr/>
          <p:nvPr/>
        </p:nvSpPr>
        <p:spPr>
          <a:xfrm>
            <a:off x="2147339" y="5018484"/>
            <a:ext cx="2138911" cy="32146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moderna, dados de chain</a:t>
            </a:r>
            <a:endParaRPr lang="en-US" sz="837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1285875"/>
            <a:ext cx="3571875" cy="2265573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464564" y="5372100"/>
            <a:ext cx="256513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Slide 2/7 • Relatório de Varredura de Saldos Blockchain </a:t>
            </a:r>
            <a:endParaRPr lang="en-US" sz="73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Resultados da Varredura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1438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Análise dos Endereços Verificados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85750" y="1285875"/>
            <a:ext cx="3571875" cy="14358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392906" y="1393031"/>
            <a:ext cx="33575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Resumo da Varredura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392906" y="1643063"/>
            <a:ext cx="117626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36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92906" y="1900238"/>
            <a:ext cx="11762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Endereços Verificados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3094834" y="1643063"/>
            <a:ext cx="65563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30,7s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094834" y="1900238"/>
            <a:ext cx="6556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Tempo Total</a:t>
            </a:r>
            <a:endParaRPr lang="en-US" sz="837" dirty="0"/>
          </a:p>
        </p:txBody>
      </p:sp>
      <p:sp>
        <p:nvSpPr>
          <p:cNvPr id="11" name="Text 8"/>
          <p:cNvSpPr/>
          <p:nvPr/>
        </p:nvSpPr>
        <p:spPr>
          <a:xfrm>
            <a:off x="392906" y="2185988"/>
            <a:ext cx="57378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92906" y="2443163"/>
            <a:ext cx="5737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 Saldo</a:t>
            </a:r>
            <a:endParaRPr lang="en-US" sz="837" dirty="0"/>
          </a:p>
        </p:txBody>
      </p:sp>
      <p:sp>
        <p:nvSpPr>
          <p:cNvPr id="13" name="Text 10"/>
          <p:cNvSpPr/>
          <p:nvPr/>
        </p:nvSpPr>
        <p:spPr>
          <a:xfrm>
            <a:off x="2966247" y="2185988"/>
            <a:ext cx="78422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31.089,84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966247" y="2443163"/>
            <a:ext cx="78422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BTC Total</a:t>
            </a:r>
            <a:endParaRPr lang="en-US" sz="837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978944"/>
            <a:ext cx="114300" cy="1143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1488" y="2871788"/>
            <a:ext cx="10548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Taxa de sucesso de </a:t>
            </a:r>
            <a:endParaRPr lang="en-US" sz="837" dirty="0"/>
          </a:p>
        </p:txBody>
      </p:sp>
      <p:sp>
        <p:nvSpPr>
          <p:cNvPr id="17" name="Text 13"/>
          <p:cNvSpPr/>
          <p:nvPr/>
        </p:nvSpPr>
        <p:spPr>
          <a:xfrm>
            <a:off x="1526363" y="2871788"/>
            <a:ext cx="33171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13,9%</a:t>
            </a:r>
            <a:endParaRPr lang="en-US" sz="837" dirty="0"/>
          </a:p>
        </p:txBody>
      </p:sp>
      <p:sp>
        <p:nvSpPr>
          <p:cNvPr id="18" name="Text 14"/>
          <p:cNvSpPr/>
          <p:nvPr/>
        </p:nvSpPr>
        <p:spPr>
          <a:xfrm>
            <a:off x="1858073" y="2871788"/>
            <a:ext cx="17957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na identificação de carteiras com </a:t>
            </a:r>
            <a:endParaRPr lang="en-US" sz="837" dirty="0"/>
          </a:p>
        </p:txBody>
      </p:sp>
      <p:sp>
        <p:nvSpPr>
          <p:cNvPr id="19" name="Text 15"/>
          <p:cNvSpPr/>
          <p:nvPr/>
        </p:nvSpPr>
        <p:spPr>
          <a:xfrm>
            <a:off x="471488" y="3043238"/>
            <a:ext cx="28781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saldo</a:t>
            </a:r>
            <a:endParaRPr lang="en-US" sz="837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3307556"/>
            <a:ext cx="114300" cy="1143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1488" y="3286125"/>
            <a:ext cx="653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837" dirty="0"/>
          </a:p>
        </p:txBody>
      </p:sp>
      <p:sp>
        <p:nvSpPr>
          <p:cNvPr id="22" name="Text 17"/>
          <p:cNvSpPr/>
          <p:nvPr/>
        </p:nvSpPr>
        <p:spPr>
          <a:xfrm>
            <a:off x="536870" y="3286125"/>
            <a:ext cx="31889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endereços (19,4%) falharam devido a limites de taxa de API</a:t>
            </a:r>
            <a:endParaRPr lang="en-US" sz="837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3550444"/>
            <a:ext cx="85725" cy="1143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42913" y="3529013"/>
            <a:ext cx="114210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Velocidade média de </a:t>
            </a:r>
            <a:endParaRPr lang="en-US" sz="837" dirty="0"/>
          </a:p>
        </p:txBody>
      </p:sp>
      <p:sp>
        <p:nvSpPr>
          <p:cNvPr id="25" name="Text 19"/>
          <p:cNvSpPr/>
          <p:nvPr/>
        </p:nvSpPr>
        <p:spPr>
          <a:xfrm>
            <a:off x="1585020" y="3529013"/>
            <a:ext cx="2287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1,17</a:t>
            </a:r>
            <a:endParaRPr lang="en-US" sz="837" dirty="0"/>
          </a:p>
        </p:txBody>
      </p:sp>
      <p:sp>
        <p:nvSpPr>
          <p:cNvPr id="26" name="Text 20"/>
          <p:cNvSpPr/>
          <p:nvPr/>
        </p:nvSpPr>
        <p:spPr>
          <a:xfrm>
            <a:off x="1813759" y="3529013"/>
            <a:ext cx="13040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endereços por segundo</a:t>
            </a:r>
            <a:endParaRPr lang="en-US" sz="837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3793331"/>
            <a:ext cx="114300" cy="1143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71488" y="3771900"/>
            <a:ext cx="13827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Saldo médio por carteira: </a:t>
            </a:r>
            <a:endParaRPr lang="en-US" sz="837" dirty="0"/>
          </a:p>
        </p:txBody>
      </p:sp>
      <p:sp>
        <p:nvSpPr>
          <p:cNvPr id="29" name="Text 22"/>
          <p:cNvSpPr/>
          <p:nvPr/>
        </p:nvSpPr>
        <p:spPr>
          <a:xfrm>
            <a:off x="1854194" y="3771900"/>
            <a:ext cx="4574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6.217,97</a:t>
            </a:r>
            <a:endParaRPr lang="en-US" sz="837" dirty="0"/>
          </a:p>
        </p:txBody>
      </p:sp>
      <p:sp>
        <p:nvSpPr>
          <p:cNvPr id="30" name="Text 23"/>
          <p:cNvSpPr/>
          <p:nvPr/>
        </p:nvSpPr>
        <p:spPr>
          <a:xfrm>
            <a:off x="2311645" y="3771900"/>
            <a:ext cx="2375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BTC</a:t>
            </a:r>
            <a:endParaRPr lang="en-US" sz="837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4036219"/>
            <a:ext cx="128588" cy="1143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85775" y="4014788"/>
            <a:ext cx="164250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Uma carteira excepcional com </a:t>
            </a:r>
            <a:endParaRPr lang="en-US" sz="837" dirty="0"/>
          </a:p>
        </p:txBody>
      </p:sp>
      <p:sp>
        <p:nvSpPr>
          <p:cNvPr id="33" name="Text 25"/>
          <p:cNvSpPr/>
          <p:nvPr/>
        </p:nvSpPr>
        <p:spPr>
          <a:xfrm>
            <a:off x="2128279" y="4014788"/>
            <a:ext cx="6681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31.000+ BTC</a:t>
            </a:r>
            <a:endParaRPr lang="en-US" sz="837" dirty="0"/>
          </a:p>
        </p:txBody>
      </p:sp>
      <p:sp>
        <p:nvSpPr>
          <p:cNvPr id="34" name="Text 26"/>
          <p:cNvSpPr/>
          <p:nvPr/>
        </p:nvSpPr>
        <p:spPr>
          <a:xfrm>
            <a:off x="2796387" y="4014788"/>
            <a:ext cx="657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identificada</a:t>
            </a:r>
            <a:endParaRPr lang="en-US" sz="837" dirty="0"/>
          </a:p>
        </p:txBody>
      </p:sp>
      <p:sp>
        <p:nvSpPr>
          <p:cNvPr id="35" name="Shape 27"/>
          <p:cNvSpPr/>
          <p:nvPr/>
        </p:nvSpPr>
        <p:spPr>
          <a:xfrm>
            <a:off x="4572000" y="1285875"/>
            <a:ext cx="4286250" cy="31432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1428750"/>
            <a:ext cx="4000500" cy="285750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64564" y="4886325"/>
            <a:ext cx="256513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Slide 3/7 • Relatório de Varredura de Saldos Blockchain </a:t>
            </a:r>
            <a:endParaRPr lang="en-US" sz="73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Carteiras com Saldo Positivo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1438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Detalhamento dos Endereços com Fundos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85750" y="1293019"/>
            <a:ext cx="12600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varredura identificou </a:t>
            </a:r>
            <a:endParaRPr lang="en-US" sz="837" dirty="0"/>
          </a:p>
        </p:txBody>
      </p:sp>
      <p:sp>
        <p:nvSpPr>
          <p:cNvPr id="6" name="Text 3"/>
          <p:cNvSpPr/>
          <p:nvPr/>
        </p:nvSpPr>
        <p:spPr>
          <a:xfrm>
            <a:off x="1545813" y="1293019"/>
            <a:ext cx="6022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carteiras</a:t>
            </a:r>
            <a:endParaRPr lang="en-US" sz="837" dirty="0"/>
          </a:p>
        </p:txBody>
      </p:sp>
      <p:sp>
        <p:nvSpPr>
          <p:cNvPr id="7" name="Text 4"/>
          <p:cNvSpPr/>
          <p:nvPr/>
        </p:nvSpPr>
        <p:spPr>
          <a:xfrm>
            <a:off x="2148064" y="1293019"/>
            <a:ext cx="16925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 saldo positivo, totalizando </a:t>
            </a:r>
            <a:endParaRPr lang="en-US" sz="837" dirty="0"/>
          </a:p>
        </p:txBody>
      </p:sp>
      <p:sp>
        <p:nvSpPr>
          <p:cNvPr id="8" name="Text 5"/>
          <p:cNvSpPr/>
          <p:nvPr/>
        </p:nvSpPr>
        <p:spPr>
          <a:xfrm>
            <a:off x="285750" y="1464469"/>
            <a:ext cx="7660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31.089,84 BTC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1051806" y="1464469"/>
            <a:ext cx="26666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Estas carteiras representam potenciais fontes de 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285750" y="1635919"/>
            <a:ext cx="146647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fundos para o sistema FDR.</a:t>
            </a:r>
            <a:endParaRPr lang="en-US" sz="837" dirty="0"/>
          </a:p>
        </p:txBody>
      </p:sp>
      <p:sp>
        <p:nvSpPr>
          <p:cNvPr id="11" name="Shape 8"/>
          <p:cNvSpPr/>
          <p:nvPr/>
        </p:nvSpPr>
        <p:spPr>
          <a:xfrm>
            <a:off x="285750" y="1971675"/>
            <a:ext cx="3571875" cy="24431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285750" y="1971675"/>
            <a:ext cx="2395165" cy="3429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0"/>
          <p:cNvSpPr/>
          <p:nvPr/>
        </p:nvSpPr>
        <p:spPr>
          <a:xfrm>
            <a:off x="285750" y="1971675"/>
            <a:ext cx="2395165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Endereço</a:t>
            </a:r>
            <a:endParaRPr lang="en-US" sz="837" dirty="0"/>
          </a:p>
        </p:txBody>
      </p:sp>
      <p:sp>
        <p:nvSpPr>
          <p:cNvPr id="14" name="Shape 11"/>
          <p:cNvSpPr/>
          <p:nvPr/>
        </p:nvSpPr>
        <p:spPr>
          <a:xfrm>
            <a:off x="2680915" y="1971675"/>
            <a:ext cx="1176710" cy="3429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2680915" y="1971675"/>
            <a:ext cx="1176710" cy="34290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Saldo (BTC)</a:t>
            </a:r>
            <a:endParaRPr lang="en-US" sz="837" dirty="0"/>
          </a:p>
        </p:txBody>
      </p:sp>
      <p:sp>
        <p:nvSpPr>
          <p:cNvPr id="16" name="Text 13"/>
          <p:cNvSpPr/>
          <p:nvPr/>
        </p:nvSpPr>
        <p:spPr>
          <a:xfrm>
            <a:off x="285750" y="2314575"/>
            <a:ext cx="2395165" cy="34647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12ib7dApVFvg82TXKycWBNpN8kFyiAN1dr</a:t>
            </a:r>
            <a:endParaRPr lang="en-US" sz="732" dirty="0"/>
          </a:p>
        </p:txBody>
      </p:sp>
      <p:sp>
        <p:nvSpPr>
          <p:cNvPr id="17" name="Text 14"/>
          <p:cNvSpPr/>
          <p:nvPr/>
        </p:nvSpPr>
        <p:spPr>
          <a:xfrm>
            <a:off x="2680915" y="2314575"/>
            <a:ext cx="1176710" cy="346472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r" indent="0" marL="0">
              <a:buNone/>
            </a:pPr>
            <a:r>
              <a:rPr lang="en-US" sz="837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31.000,07534182</a:t>
            </a:r>
            <a:endParaRPr lang="en-US" sz="837" dirty="0"/>
          </a:p>
        </p:txBody>
      </p:sp>
      <p:sp>
        <p:nvSpPr>
          <p:cNvPr id="18" name="Shape 15"/>
          <p:cNvSpPr/>
          <p:nvPr/>
        </p:nvSpPr>
        <p:spPr>
          <a:xfrm>
            <a:off x="285750" y="2661047"/>
            <a:ext cx="3571875" cy="35004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9" name="Text 16"/>
          <p:cNvSpPr/>
          <p:nvPr/>
        </p:nvSpPr>
        <p:spPr>
          <a:xfrm>
            <a:off x="285750" y="2661047"/>
            <a:ext cx="2395165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1Xcdre9pAipV9kiSrSgssEpQPAruzMFzr</a:t>
            </a:r>
            <a:endParaRPr lang="en-US" sz="732" dirty="0"/>
          </a:p>
        </p:txBody>
      </p:sp>
      <p:sp>
        <p:nvSpPr>
          <p:cNvPr id="20" name="Text 17"/>
          <p:cNvSpPr/>
          <p:nvPr/>
        </p:nvSpPr>
        <p:spPr>
          <a:xfrm>
            <a:off x="2680915" y="2661047"/>
            <a:ext cx="1176710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r" indent="0" marL="0">
              <a:buNone/>
            </a:pPr>
            <a:r>
              <a:rPr lang="en-US" sz="837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89,73000548</a:t>
            </a:r>
            <a:endParaRPr lang="en-US" sz="837" dirty="0"/>
          </a:p>
        </p:txBody>
      </p:sp>
      <p:sp>
        <p:nvSpPr>
          <p:cNvPr id="21" name="Text 18"/>
          <p:cNvSpPr/>
          <p:nvPr/>
        </p:nvSpPr>
        <p:spPr>
          <a:xfrm>
            <a:off x="285750" y="3011091"/>
            <a:ext cx="2395165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1299FyEzJoPZbaKJUnpAVKNzwKPMUADAzu</a:t>
            </a:r>
            <a:endParaRPr lang="en-US" sz="732" dirty="0"/>
          </a:p>
        </p:txBody>
      </p:sp>
      <p:sp>
        <p:nvSpPr>
          <p:cNvPr id="22" name="Text 19"/>
          <p:cNvSpPr/>
          <p:nvPr/>
        </p:nvSpPr>
        <p:spPr>
          <a:xfrm>
            <a:off x="2680915" y="3011091"/>
            <a:ext cx="1176710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r" indent="0" marL="0">
              <a:buNone/>
            </a:pPr>
            <a:r>
              <a:rPr lang="en-US" sz="837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0,01951000</a:t>
            </a:r>
            <a:endParaRPr lang="en-US" sz="837" dirty="0"/>
          </a:p>
        </p:txBody>
      </p:sp>
      <p:sp>
        <p:nvSpPr>
          <p:cNvPr id="23" name="Shape 20"/>
          <p:cNvSpPr/>
          <p:nvPr/>
        </p:nvSpPr>
        <p:spPr>
          <a:xfrm>
            <a:off x="285750" y="3361134"/>
            <a:ext cx="3571875" cy="35004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4" name="Text 21"/>
          <p:cNvSpPr/>
          <p:nvPr/>
        </p:nvSpPr>
        <p:spPr>
          <a:xfrm>
            <a:off x="285750" y="3361134"/>
            <a:ext cx="2395165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1CvtJkfyErRDdmrv5SSv3tHVZBxt26GJV7</a:t>
            </a:r>
            <a:endParaRPr lang="en-US" sz="732" dirty="0"/>
          </a:p>
        </p:txBody>
      </p:sp>
      <p:sp>
        <p:nvSpPr>
          <p:cNvPr id="25" name="Text 22"/>
          <p:cNvSpPr/>
          <p:nvPr/>
        </p:nvSpPr>
        <p:spPr>
          <a:xfrm>
            <a:off x="2680915" y="3361134"/>
            <a:ext cx="1176710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r" indent="0" marL="0">
              <a:buNone/>
            </a:pPr>
            <a:r>
              <a:rPr lang="en-US" sz="837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0,01078838</a:t>
            </a:r>
            <a:endParaRPr lang="en-US" sz="837" dirty="0"/>
          </a:p>
        </p:txBody>
      </p:sp>
      <p:sp>
        <p:nvSpPr>
          <p:cNvPr id="26" name="Text 23"/>
          <p:cNvSpPr/>
          <p:nvPr/>
        </p:nvSpPr>
        <p:spPr>
          <a:xfrm>
            <a:off x="285750" y="3711178"/>
            <a:ext cx="2395165" cy="35361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1KFHE7w8BhaENAswwryaoccDb6qcT6DbYY</a:t>
            </a:r>
            <a:endParaRPr lang="en-US" sz="732" dirty="0"/>
          </a:p>
        </p:txBody>
      </p:sp>
      <p:sp>
        <p:nvSpPr>
          <p:cNvPr id="27" name="Text 24"/>
          <p:cNvSpPr/>
          <p:nvPr/>
        </p:nvSpPr>
        <p:spPr>
          <a:xfrm>
            <a:off x="2680915" y="3711178"/>
            <a:ext cx="1176710" cy="35361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r" indent="0" marL="0">
              <a:buNone/>
            </a:pPr>
            <a:r>
              <a:rPr lang="en-US" sz="837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0,00326130</a:t>
            </a:r>
            <a:endParaRPr lang="en-US" sz="837" dirty="0"/>
          </a:p>
        </p:txBody>
      </p:sp>
      <p:sp>
        <p:nvSpPr>
          <p:cNvPr id="28" name="Shape 25"/>
          <p:cNvSpPr/>
          <p:nvPr/>
        </p:nvSpPr>
        <p:spPr>
          <a:xfrm>
            <a:off x="285750" y="4064794"/>
            <a:ext cx="3571875" cy="35004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9" name="Shape 26"/>
          <p:cNvSpPr/>
          <p:nvPr/>
        </p:nvSpPr>
        <p:spPr>
          <a:xfrm>
            <a:off x="285750" y="4064794"/>
            <a:ext cx="2395165" cy="350044"/>
          </a:xfrm>
          <a:prstGeom prst="rect">
            <a:avLst/>
          </a:prstGeom>
          <a:solidFill>
            <a:srgbClr val="EFF6FF"/>
          </a:solidFill>
          <a:ln w="198">
            <a:solidFill>
              <a:srgbClr val="3B82F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85750" y="4064794"/>
            <a:ext cx="2395165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TOTAL</a:t>
            </a:r>
            <a:endParaRPr lang="en-US" sz="837" dirty="0"/>
          </a:p>
        </p:txBody>
      </p:sp>
      <p:sp>
        <p:nvSpPr>
          <p:cNvPr id="31" name="Shape 28"/>
          <p:cNvSpPr/>
          <p:nvPr/>
        </p:nvSpPr>
        <p:spPr>
          <a:xfrm>
            <a:off x="2680915" y="4064794"/>
            <a:ext cx="1176710" cy="350044"/>
          </a:xfrm>
          <a:prstGeom prst="rect">
            <a:avLst/>
          </a:prstGeom>
          <a:solidFill>
            <a:srgbClr val="EFF6FF"/>
          </a:solidFill>
          <a:ln w="198">
            <a:solidFill>
              <a:srgbClr val="3B82F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680915" y="4064794"/>
            <a:ext cx="1176710" cy="350044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r" indent="0" marL="0">
              <a:buNone/>
            </a:pPr>
            <a:r>
              <a:rPr lang="en-US" sz="837" b="1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31.089,83890698</a:t>
            </a:r>
            <a:endParaRPr lang="en-US" sz="837" dirty="0"/>
          </a:p>
        </p:txBody>
      </p:sp>
      <p:sp>
        <p:nvSpPr>
          <p:cNvPr id="33" name="Text 30"/>
          <p:cNvSpPr/>
          <p:nvPr/>
        </p:nvSpPr>
        <p:spPr>
          <a:xfrm>
            <a:off x="285750" y="4514850"/>
            <a:ext cx="35718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i="1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* Saldos verificados via API BlockStream em 17/08/2025</a:t>
            </a:r>
            <a:endParaRPr lang="en-US" sz="732" dirty="0"/>
          </a:p>
        </p:txBody>
      </p:sp>
      <p:sp>
        <p:nvSpPr>
          <p:cNvPr id="34" name="Shape 31"/>
          <p:cNvSpPr/>
          <p:nvPr/>
        </p:nvSpPr>
        <p:spPr>
          <a:xfrm>
            <a:off x="4572000" y="1285875"/>
            <a:ext cx="4286250" cy="31432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5" y="1428750"/>
            <a:ext cx="4000500" cy="285750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6464564" y="4886325"/>
            <a:ext cx="256513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Slide 4/7 • Relatório de Varredura de Saldos Blockchain </a:t>
            </a:r>
            <a:endParaRPr lang="en-US" sz="73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77697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Destaque: Carteira de Alto Valor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1438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Análise da Carteira com Maior Saldo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85750" y="1285875"/>
            <a:ext cx="3571875" cy="19073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428750"/>
            <a:ext cx="32861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46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Detalhes da Carteira</a:t>
            </a:r>
            <a:endParaRPr lang="en-US" sz="1046" dirty="0"/>
          </a:p>
        </p:txBody>
      </p:sp>
      <p:sp>
        <p:nvSpPr>
          <p:cNvPr id="7" name="Shape 4"/>
          <p:cNvSpPr/>
          <p:nvPr/>
        </p:nvSpPr>
        <p:spPr>
          <a:xfrm>
            <a:off x="428625" y="1685925"/>
            <a:ext cx="3286125" cy="28575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685925"/>
            <a:ext cx="3286125" cy="285750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12ib7dApVFvg82TXKycWBNpN8kFyiAN1dr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428625" y="2078831"/>
            <a:ext cx="34256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Saldo: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2556430" y="2078831"/>
            <a:ext cx="115832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31.000,07534182 BTC</a:t>
            </a:r>
            <a:endParaRPr lang="en-US" sz="837" dirty="0"/>
          </a:p>
        </p:txBody>
      </p:sp>
      <p:sp>
        <p:nvSpPr>
          <p:cNvPr id="11" name="Text 8"/>
          <p:cNvSpPr/>
          <p:nvPr/>
        </p:nvSpPr>
        <p:spPr>
          <a:xfrm>
            <a:off x="428625" y="2321719"/>
            <a:ext cx="123171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Valor Estimado (USD):</a:t>
            </a:r>
            <a:endParaRPr lang="en-US" sz="837" dirty="0"/>
          </a:p>
        </p:txBody>
      </p:sp>
      <p:sp>
        <p:nvSpPr>
          <p:cNvPr id="12" name="Text 9"/>
          <p:cNvSpPr/>
          <p:nvPr/>
        </p:nvSpPr>
        <p:spPr>
          <a:xfrm>
            <a:off x="2913255" y="2321719"/>
            <a:ext cx="80149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~$1,86 bilhões</a:t>
            </a:r>
            <a:endParaRPr lang="en-US" sz="837" dirty="0"/>
          </a:p>
        </p:txBody>
      </p:sp>
      <p:sp>
        <p:nvSpPr>
          <p:cNvPr id="13" name="Text 10"/>
          <p:cNvSpPr/>
          <p:nvPr/>
        </p:nvSpPr>
        <p:spPr>
          <a:xfrm>
            <a:off x="428625" y="2564606"/>
            <a:ext cx="100174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Tipo de Endereço:</a:t>
            </a:r>
            <a:endParaRPr lang="en-US" sz="837" dirty="0"/>
          </a:p>
        </p:txBody>
      </p:sp>
      <p:sp>
        <p:nvSpPr>
          <p:cNvPr id="14" name="Text 11"/>
          <p:cNvSpPr/>
          <p:nvPr/>
        </p:nvSpPr>
        <p:spPr>
          <a:xfrm>
            <a:off x="2837938" y="2564606"/>
            <a:ext cx="87681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Legacy (P2PKH)</a:t>
            </a:r>
            <a:endParaRPr lang="en-US" sz="837" dirty="0"/>
          </a:p>
        </p:txBody>
      </p:sp>
      <p:sp>
        <p:nvSpPr>
          <p:cNvPr id="15" name="Text 12"/>
          <p:cNvSpPr/>
          <p:nvPr/>
        </p:nvSpPr>
        <p:spPr>
          <a:xfrm>
            <a:off x="428625" y="2807494"/>
            <a:ext cx="76421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API Utilizada:</a:t>
            </a:r>
            <a:endParaRPr lang="en-US" sz="837" dirty="0"/>
          </a:p>
        </p:txBody>
      </p:sp>
      <p:sp>
        <p:nvSpPr>
          <p:cNvPr id="16" name="Text 13"/>
          <p:cNvSpPr/>
          <p:nvPr/>
        </p:nvSpPr>
        <p:spPr>
          <a:xfrm>
            <a:off x="2991669" y="2807494"/>
            <a:ext cx="72308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BlockStream</a:t>
            </a:r>
            <a:endParaRPr lang="en-US" sz="837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3357563"/>
            <a:ext cx="171450" cy="1285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8638" y="3343275"/>
            <a:ext cx="6402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Representa </a:t>
            </a:r>
            <a:endParaRPr lang="en-US" sz="837" dirty="0"/>
          </a:p>
        </p:txBody>
      </p:sp>
      <p:sp>
        <p:nvSpPr>
          <p:cNvPr id="19" name="Text 15"/>
          <p:cNvSpPr/>
          <p:nvPr/>
        </p:nvSpPr>
        <p:spPr>
          <a:xfrm>
            <a:off x="1168840" y="3343275"/>
            <a:ext cx="33171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99,7%</a:t>
            </a:r>
            <a:endParaRPr lang="en-US" sz="837" dirty="0"/>
          </a:p>
        </p:txBody>
      </p:sp>
      <p:sp>
        <p:nvSpPr>
          <p:cNvPr id="20" name="Text 16"/>
          <p:cNvSpPr/>
          <p:nvPr/>
        </p:nvSpPr>
        <p:spPr>
          <a:xfrm>
            <a:off x="1500550" y="3343275"/>
            <a:ext cx="14109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 saldo total encontrado</a:t>
            </a:r>
            <a:endParaRPr lang="en-US" sz="837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3636169"/>
            <a:ext cx="171450" cy="1285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8638" y="3614738"/>
            <a:ext cx="24360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Potencial carteira institucional ou de custódia</a:t>
            </a:r>
            <a:endParaRPr lang="en-US" sz="837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" y="3914775"/>
            <a:ext cx="171450" cy="1285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8638" y="3893344"/>
            <a:ext cx="306313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Recomendação: verificação adicional antes da integração</a:t>
            </a:r>
            <a:endParaRPr lang="en-US" sz="837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4193381"/>
            <a:ext cx="171450" cy="1285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8638" y="4171950"/>
            <a:ext cx="31400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Movimentação requer protocolos de segurança avançados</a:t>
            </a:r>
            <a:endParaRPr lang="en-US" sz="837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4471988"/>
            <a:ext cx="171450" cy="12858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28638" y="4450556"/>
            <a:ext cx="287739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Confirmado por múltiplas fontes de dados blockchain</a:t>
            </a:r>
            <a:endParaRPr lang="en-US" sz="837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6375" y="1285875"/>
            <a:ext cx="2857500" cy="2857500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5856843" y="4371975"/>
            <a:ext cx="1716565" cy="3111996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0750" y="4514850"/>
            <a:ext cx="1428750" cy="254764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999718" y="7169646"/>
            <a:ext cx="143081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QR Code para Verificação</a:t>
            </a:r>
            <a:endParaRPr lang="en-US" sz="837" dirty="0"/>
          </a:p>
        </p:txBody>
      </p:sp>
      <p:sp>
        <p:nvSpPr>
          <p:cNvPr id="33" name="Text 23"/>
          <p:cNvSpPr/>
          <p:nvPr/>
        </p:nvSpPr>
        <p:spPr>
          <a:xfrm>
            <a:off x="6464564" y="7512546"/>
            <a:ext cx="256513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Slide 5/7 • Relatório de Varredura de Saldos Blockchain </a:t>
            </a:r>
            <a:endParaRPr lang="en-US" sz="73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578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das APIs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1438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Análise Comparativa das Fontes de Dados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85750" y="1285875"/>
            <a:ext cx="3571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varredura utilizou um sistema multi-API com failover automático para maximizar a taxa de sucesso e contornar limitações de taxa.</a:t>
            </a:r>
            <a:endParaRPr lang="en-US" sz="837" dirty="0"/>
          </a:p>
        </p:txBody>
      </p:sp>
      <p:sp>
        <p:nvSpPr>
          <p:cNvPr id="6" name="Shape 3"/>
          <p:cNvSpPr/>
          <p:nvPr/>
        </p:nvSpPr>
        <p:spPr>
          <a:xfrm>
            <a:off x="285750" y="1771650"/>
            <a:ext cx="3571875" cy="8286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06" y="1910953"/>
            <a:ext cx="128588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2931" y="1878806"/>
            <a:ext cx="81346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BlockStream </a:t>
            </a:r>
            <a:endParaRPr lang="en-US" sz="942" dirty="0"/>
          </a:p>
        </p:txBody>
      </p:sp>
      <p:sp>
        <p:nvSpPr>
          <p:cNvPr id="9" name="Text 5"/>
          <p:cNvSpPr/>
          <p:nvPr/>
        </p:nvSpPr>
        <p:spPr>
          <a:xfrm>
            <a:off x="392906" y="2128838"/>
            <a:ext cx="49626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</a:t>
            </a:r>
            <a:endParaRPr lang="en-US" sz="1046" dirty="0"/>
          </a:p>
        </p:txBody>
      </p:sp>
      <p:sp>
        <p:nvSpPr>
          <p:cNvPr id="10" name="Text 6"/>
          <p:cNvSpPr/>
          <p:nvPr/>
        </p:nvSpPr>
        <p:spPr>
          <a:xfrm>
            <a:off x="392906" y="2343150"/>
            <a:ext cx="49626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Chamadas</a:t>
            </a:r>
            <a:endParaRPr lang="en-US" sz="732" dirty="0"/>
          </a:p>
        </p:txBody>
      </p:sp>
      <p:sp>
        <p:nvSpPr>
          <p:cNvPr id="11" name="Text 7"/>
          <p:cNvSpPr/>
          <p:nvPr/>
        </p:nvSpPr>
        <p:spPr>
          <a:xfrm>
            <a:off x="1704510" y="2128838"/>
            <a:ext cx="76011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100%</a:t>
            </a:r>
            <a:endParaRPr lang="en-US" sz="1046" dirty="0"/>
          </a:p>
        </p:txBody>
      </p:sp>
      <p:sp>
        <p:nvSpPr>
          <p:cNvPr id="12" name="Text 8"/>
          <p:cNvSpPr/>
          <p:nvPr/>
        </p:nvSpPr>
        <p:spPr>
          <a:xfrm>
            <a:off x="1704510" y="2343150"/>
            <a:ext cx="76011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Taxa de Sucesso</a:t>
            </a:r>
            <a:endParaRPr lang="en-US" sz="732" dirty="0"/>
          </a:p>
        </p:txBody>
      </p:sp>
      <p:sp>
        <p:nvSpPr>
          <p:cNvPr id="13" name="Text 9"/>
          <p:cNvSpPr/>
          <p:nvPr/>
        </p:nvSpPr>
        <p:spPr>
          <a:xfrm>
            <a:off x="3279958" y="2128838"/>
            <a:ext cx="47048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0.5s</a:t>
            </a:r>
            <a:endParaRPr lang="en-US" sz="1046" dirty="0"/>
          </a:p>
        </p:txBody>
      </p:sp>
      <p:sp>
        <p:nvSpPr>
          <p:cNvPr id="14" name="Text 10"/>
          <p:cNvSpPr/>
          <p:nvPr/>
        </p:nvSpPr>
        <p:spPr>
          <a:xfrm>
            <a:off x="3279958" y="2343150"/>
            <a:ext cx="47048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Rate Limit</a:t>
            </a:r>
            <a:endParaRPr lang="en-US" sz="732" dirty="0"/>
          </a:p>
        </p:txBody>
      </p:sp>
      <p:sp>
        <p:nvSpPr>
          <p:cNvPr id="15" name="Shape 11"/>
          <p:cNvSpPr/>
          <p:nvPr/>
        </p:nvSpPr>
        <p:spPr>
          <a:xfrm>
            <a:off x="285750" y="2707481"/>
            <a:ext cx="3571875" cy="8286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06" y="2846784"/>
            <a:ext cx="128588" cy="128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2931" y="2814638"/>
            <a:ext cx="99270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Blockchain.info </a:t>
            </a:r>
            <a:endParaRPr lang="en-US" sz="942" dirty="0"/>
          </a:p>
        </p:txBody>
      </p:sp>
      <p:sp>
        <p:nvSpPr>
          <p:cNvPr id="18" name="Text 13"/>
          <p:cNvSpPr/>
          <p:nvPr/>
        </p:nvSpPr>
        <p:spPr>
          <a:xfrm>
            <a:off x="392906" y="3064669"/>
            <a:ext cx="49626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</a:t>
            </a:r>
            <a:endParaRPr lang="en-US" sz="1046" dirty="0"/>
          </a:p>
        </p:txBody>
      </p:sp>
      <p:sp>
        <p:nvSpPr>
          <p:cNvPr id="19" name="Text 14"/>
          <p:cNvSpPr/>
          <p:nvPr/>
        </p:nvSpPr>
        <p:spPr>
          <a:xfrm>
            <a:off x="392906" y="3278981"/>
            <a:ext cx="49626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Chamadas</a:t>
            </a:r>
            <a:endParaRPr lang="en-US" sz="732" dirty="0"/>
          </a:p>
        </p:txBody>
      </p:sp>
      <p:sp>
        <p:nvSpPr>
          <p:cNvPr id="20" name="Text 15"/>
          <p:cNvSpPr/>
          <p:nvPr/>
        </p:nvSpPr>
        <p:spPr>
          <a:xfrm>
            <a:off x="1704510" y="3064669"/>
            <a:ext cx="76011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50%</a:t>
            </a:r>
            <a:endParaRPr lang="en-US" sz="1046" dirty="0"/>
          </a:p>
        </p:txBody>
      </p:sp>
      <p:sp>
        <p:nvSpPr>
          <p:cNvPr id="21" name="Text 16"/>
          <p:cNvSpPr/>
          <p:nvPr/>
        </p:nvSpPr>
        <p:spPr>
          <a:xfrm>
            <a:off x="1704510" y="3278981"/>
            <a:ext cx="76011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Taxa de Sucesso</a:t>
            </a:r>
            <a:endParaRPr lang="en-US" sz="732" dirty="0"/>
          </a:p>
        </p:txBody>
      </p:sp>
      <p:sp>
        <p:nvSpPr>
          <p:cNvPr id="22" name="Text 17"/>
          <p:cNvSpPr/>
          <p:nvPr/>
        </p:nvSpPr>
        <p:spPr>
          <a:xfrm>
            <a:off x="3279958" y="3064669"/>
            <a:ext cx="47048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1.0s</a:t>
            </a:r>
            <a:endParaRPr lang="en-US" sz="1046" dirty="0"/>
          </a:p>
        </p:txBody>
      </p:sp>
      <p:sp>
        <p:nvSpPr>
          <p:cNvPr id="23" name="Text 18"/>
          <p:cNvSpPr/>
          <p:nvPr/>
        </p:nvSpPr>
        <p:spPr>
          <a:xfrm>
            <a:off x="3279958" y="3278981"/>
            <a:ext cx="47048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Rate Limit</a:t>
            </a:r>
            <a:endParaRPr lang="en-US" sz="732" dirty="0"/>
          </a:p>
        </p:txBody>
      </p:sp>
      <p:sp>
        <p:nvSpPr>
          <p:cNvPr id="24" name="Shape 19"/>
          <p:cNvSpPr/>
          <p:nvPr/>
        </p:nvSpPr>
        <p:spPr>
          <a:xfrm>
            <a:off x="285750" y="3643313"/>
            <a:ext cx="3571875" cy="8286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3782616"/>
            <a:ext cx="128588" cy="1285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92931" y="3750469"/>
            <a:ext cx="80637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BlockCypher </a:t>
            </a:r>
            <a:endParaRPr lang="en-US" sz="942" dirty="0"/>
          </a:p>
        </p:txBody>
      </p:sp>
      <p:sp>
        <p:nvSpPr>
          <p:cNvPr id="27" name="Text 21"/>
          <p:cNvSpPr/>
          <p:nvPr/>
        </p:nvSpPr>
        <p:spPr>
          <a:xfrm>
            <a:off x="392906" y="4000500"/>
            <a:ext cx="49626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046" dirty="0"/>
          </a:p>
        </p:txBody>
      </p:sp>
      <p:sp>
        <p:nvSpPr>
          <p:cNvPr id="28" name="Text 22"/>
          <p:cNvSpPr/>
          <p:nvPr/>
        </p:nvSpPr>
        <p:spPr>
          <a:xfrm>
            <a:off x="392906" y="4214813"/>
            <a:ext cx="49626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Chamadas</a:t>
            </a:r>
            <a:endParaRPr lang="en-US" sz="732" dirty="0"/>
          </a:p>
        </p:txBody>
      </p:sp>
      <p:sp>
        <p:nvSpPr>
          <p:cNvPr id="29" name="Text 23"/>
          <p:cNvSpPr/>
          <p:nvPr/>
        </p:nvSpPr>
        <p:spPr>
          <a:xfrm>
            <a:off x="1704510" y="4000500"/>
            <a:ext cx="76011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0%</a:t>
            </a:r>
            <a:endParaRPr lang="en-US" sz="1046" dirty="0"/>
          </a:p>
        </p:txBody>
      </p:sp>
      <p:sp>
        <p:nvSpPr>
          <p:cNvPr id="30" name="Text 24"/>
          <p:cNvSpPr/>
          <p:nvPr/>
        </p:nvSpPr>
        <p:spPr>
          <a:xfrm>
            <a:off x="1704510" y="4214813"/>
            <a:ext cx="76011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Taxa de Sucesso</a:t>
            </a:r>
            <a:endParaRPr lang="en-US" sz="732" dirty="0"/>
          </a:p>
        </p:txBody>
      </p:sp>
      <p:sp>
        <p:nvSpPr>
          <p:cNvPr id="31" name="Text 25"/>
          <p:cNvSpPr/>
          <p:nvPr/>
        </p:nvSpPr>
        <p:spPr>
          <a:xfrm>
            <a:off x="3279958" y="4000500"/>
            <a:ext cx="47048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3.0s</a:t>
            </a:r>
            <a:endParaRPr lang="en-US" sz="1046" dirty="0"/>
          </a:p>
        </p:txBody>
      </p:sp>
      <p:sp>
        <p:nvSpPr>
          <p:cNvPr id="32" name="Text 26"/>
          <p:cNvSpPr/>
          <p:nvPr/>
        </p:nvSpPr>
        <p:spPr>
          <a:xfrm>
            <a:off x="3279958" y="4214813"/>
            <a:ext cx="47048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732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Rate Limit</a:t>
            </a:r>
            <a:endParaRPr lang="en-US" sz="732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" y="4643438"/>
            <a:ext cx="85725" cy="1143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42913" y="4614863"/>
            <a:ext cx="31386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BlockStream foi a API mais confiável com 100% de sucesso</a:t>
            </a:r>
            <a:endParaRPr lang="en-US" sz="837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4972050"/>
            <a:ext cx="85725" cy="11430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42913" y="4857750"/>
            <a:ext cx="34147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sistema de failover automático garantiu continuidade da varredura</a:t>
            </a:r>
            <a:endParaRPr lang="en-US" sz="837" dirty="0"/>
          </a:p>
        </p:txBody>
      </p:sp>
      <p:sp>
        <p:nvSpPr>
          <p:cNvPr id="37" name="Shape 29"/>
          <p:cNvSpPr/>
          <p:nvPr/>
        </p:nvSpPr>
        <p:spPr>
          <a:xfrm>
            <a:off x="4572000" y="1285875"/>
            <a:ext cx="4286250" cy="31432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1428750"/>
            <a:ext cx="4000500" cy="28575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464564" y="5300663"/>
            <a:ext cx="256513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Slide 6/7 • Relatório de Varredura de Saldos Blockchain </a:t>
            </a:r>
            <a:endParaRPr lang="en-US" sz="73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08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25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Próximos Passos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285750" y="814388"/>
            <a:ext cx="8572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Plano de Ação para Consolidação de Fundos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85750" y="1285875"/>
            <a:ext cx="285750" cy="2857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285750" y="1285875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046" dirty="0"/>
          </a:p>
        </p:txBody>
      </p:sp>
      <p:sp>
        <p:nvSpPr>
          <p:cNvPr id="7" name="Text 4"/>
          <p:cNvSpPr/>
          <p:nvPr/>
        </p:nvSpPr>
        <p:spPr>
          <a:xfrm>
            <a:off x="678656" y="1285875"/>
            <a:ext cx="36075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Integração com o FDR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678656" y="1514475"/>
            <a:ext cx="360759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Integrar as carteiras identificadas com saldo positivo ao Fundo Descentralizado de Reserva (FDR), priorizando a carteira de alto valor (12ib7dApVFvg82TXKycWBNpN8kFyiAN1dr).</a:t>
            </a:r>
            <a:endParaRPr lang="en-US" sz="837" dirty="0"/>
          </a:p>
        </p:txBody>
      </p:sp>
      <p:sp>
        <p:nvSpPr>
          <p:cNvPr id="9" name="Shape 6"/>
          <p:cNvSpPr/>
          <p:nvPr/>
        </p:nvSpPr>
        <p:spPr>
          <a:xfrm>
            <a:off x="285750" y="2207419"/>
            <a:ext cx="285750" cy="2857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285750" y="2207419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046" dirty="0"/>
          </a:p>
        </p:txBody>
      </p:sp>
      <p:sp>
        <p:nvSpPr>
          <p:cNvPr id="11" name="Text 8"/>
          <p:cNvSpPr/>
          <p:nvPr/>
        </p:nvSpPr>
        <p:spPr>
          <a:xfrm>
            <a:off x="678656" y="2207419"/>
            <a:ext cx="36075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Preparação de PSBTs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678656" y="2436019"/>
            <a:ext cx="360759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Criar Partially Signed Bitcoin Transactions (PSBTs) para transferência segura dos fundos para a carteira exclusiva de custódia (13m3xop6RnioRX6qrnkavLekv7cvu5DuMK).</a:t>
            </a:r>
            <a:endParaRPr lang="en-US" sz="837" dirty="0"/>
          </a:p>
        </p:txBody>
      </p:sp>
      <p:sp>
        <p:nvSpPr>
          <p:cNvPr id="13" name="Shape 10"/>
          <p:cNvSpPr/>
          <p:nvPr/>
        </p:nvSpPr>
        <p:spPr>
          <a:xfrm>
            <a:off x="285750" y="3128963"/>
            <a:ext cx="285750" cy="2857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285750" y="3128963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046" dirty="0"/>
          </a:p>
        </p:txBody>
      </p:sp>
      <p:sp>
        <p:nvSpPr>
          <p:cNvPr id="15" name="Text 12"/>
          <p:cNvSpPr/>
          <p:nvPr/>
        </p:nvSpPr>
        <p:spPr>
          <a:xfrm>
            <a:off x="678656" y="3128963"/>
            <a:ext cx="36075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Monitoramento Contínuo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678656" y="3357563"/>
            <a:ext cx="360759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Implementar sistema de monitoramento contínuo para as carteiras identificadas, com alertas automáticos para movimentações e mudanças de saldo.</a:t>
            </a:r>
            <a:endParaRPr lang="en-US" sz="837" dirty="0"/>
          </a:p>
        </p:txBody>
      </p:sp>
      <p:sp>
        <p:nvSpPr>
          <p:cNvPr id="17" name="Shape 14"/>
          <p:cNvSpPr/>
          <p:nvPr/>
        </p:nvSpPr>
        <p:spPr>
          <a:xfrm>
            <a:off x="285750" y="4050506"/>
            <a:ext cx="285750" cy="28575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5"/>
          <p:cNvSpPr/>
          <p:nvPr/>
        </p:nvSpPr>
        <p:spPr>
          <a:xfrm>
            <a:off x="285750" y="4050506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4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046" dirty="0"/>
          </a:p>
        </p:txBody>
      </p:sp>
      <p:sp>
        <p:nvSpPr>
          <p:cNvPr id="19" name="Text 16"/>
          <p:cNvSpPr/>
          <p:nvPr/>
        </p:nvSpPr>
        <p:spPr>
          <a:xfrm>
            <a:off x="678656" y="4050506"/>
            <a:ext cx="36075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Expansão da Varredura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678656" y="4279106"/>
            <a:ext cx="360759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Ampliar a varredura para os arquivos restantes, incluindo os formatos criptografados (BIE1), após implementação de decodificadores específicos.</a:t>
            </a:r>
            <a:endParaRPr lang="en-US" sz="837" dirty="0"/>
          </a:p>
        </p:txBody>
      </p:sp>
      <p:sp>
        <p:nvSpPr>
          <p:cNvPr id="21" name="Shape 18"/>
          <p:cNvSpPr/>
          <p:nvPr/>
        </p:nvSpPr>
        <p:spPr>
          <a:xfrm>
            <a:off x="285750" y="5007769"/>
            <a:ext cx="4000500" cy="15573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428625" y="5150644"/>
            <a:ext cx="37147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42" b="1" dirty="0">
                <a:solidFill>
                  <a:srgbClr val="1F29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Cronograma de Implementação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428625" y="5450681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Imediato</a:t>
            </a:r>
            <a:endParaRPr lang="en-US" sz="837" dirty="0"/>
          </a:p>
        </p:txBody>
      </p:sp>
      <p:sp>
        <p:nvSpPr>
          <p:cNvPr id="24" name="Text 21"/>
          <p:cNvSpPr/>
          <p:nvPr/>
        </p:nvSpPr>
        <p:spPr>
          <a:xfrm>
            <a:off x="1285875" y="5450681"/>
            <a:ext cx="2857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Integração da carteira principal (31.000+ BTC)</a:t>
            </a:r>
            <a:endParaRPr lang="en-US" sz="837" dirty="0"/>
          </a:p>
        </p:txBody>
      </p:sp>
      <p:sp>
        <p:nvSpPr>
          <p:cNvPr id="25" name="Text 22"/>
          <p:cNvSpPr/>
          <p:nvPr/>
        </p:nvSpPr>
        <p:spPr>
          <a:xfrm>
            <a:off x="428625" y="5693569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dias</a:t>
            </a:r>
            <a:endParaRPr lang="en-US" sz="837" dirty="0"/>
          </a:p>
        </p:txBody>
      </p:sp>
      <p:sp>
        <p:nvSpPr>
          <p:cNvPr id="26" name="Text 23"/>
          <p:cNvSpPr/>
          <p:nvPr/>
        </p:nvSpPr>
        <p:spPr>
          <a:xfrm>
            <a:off x="1285875" y="5693569"/>
            <a:ext cx="2857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Implementação do sistema de monitoramento</a:t>
            </a:r>
            <a:endParaRPr lang="en-US" sz="837" dirty="0"/>
          </a:p>
        </p:txBody>
      </p:sp>
      <p:sp>
        <p:nvSpPr>
          <p:cNvPr id="27" name="Text 24"/>
          <p:cNvSpPr/>
          <p:nvPr/>
        </p:nvSpPr>
        <p:spPr>
          <a:xfrm>
            <a:off x="428625" y="5936456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dias</a:t>
            </a:r>
            <a:endParaRPr lang="en-US" sz="837" dirty="0"/>
          </a:p>
        </p:txBody>
      </p:sp>
      <p:sp>
        <p:nvSpPr>
          <p:cNvPr id="28" name="Text 25"/>
          <p:cNvSpPr/>
          <p:nvPr/>
        </p:nvSpPr>
        <p:spPr>
          <a:xfrm>
            <a:off x="1285875" y="5936456"/>
            <a:ext cx="2857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Integração das carteiras secundárias</a:t>
            </a:r>
            <a:endParaRPr lang="en-US" sz="837" dirty="0"/>
          </a:p>
        </p:txBody>
      </p:sp>
      <p:sp>
        <p:nvSpPr>
          <p:cNvPr id="29" name="Text 26"/>
          <p:cNvSpPr/>
          <p:nvPr/>
        </p:nvSpPr>
        <p:spPr>
          <a:xfrm>
            <a:off x="428625" y="6179344"/>
            <a:ext cx="857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b="1" dirty="0">
                <a:solidFill>
                  <a:srgbClr val="3B82F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 dias</a:t>
            </a:r>
            <a:endParaRPr lang="en-US" sz="837" dirty="0"/>
          </a:p>
        </p:txBody>
      </p:sp>
      <p:sp>
        <p:nvSpPr>
          <p:cNvPr id="30" name="Text 27"/>
          <p:cNvSpPr/>
          <p:nvPr/>
        </p:nvSpPr>
        <p:spPr>
          <a:xfrm>
            <a:off x="1285875" y="6179344"/>
            <a:ext cx="2857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37" dirty="0">
                <a:solidFill>
                  <a:srgbClr val="4B55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Expansão da varredura e decodificação BIE1</a:t>
            </a:r>
            <a:endParaRPr lang="en-US" sz="837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285875"/>
            <a:ext cx="3571875" cy="178593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6464564" y="6593681"/>
            <a:ext cx="256513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32" dirty="0">
                <a:solidFill>
                  <a:srgbClr val="6B72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Slide 7/7 • Relatório de Varredura de Saldos Blockchain </a:t>
            </a:r>
            <a:endParaRPr lang="en-US" sz="73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2025-08-18T11:08:53Z</dcterms:created>
  <dcterms:modified xsi:type="dcterms:W3CDTF">2025-08-18T11:08:53Z</dcterms:modified>
</cp:coreProperties>
</file>