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Visão Geral do FDR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28600" y="785813"/>
            <a:ext cx="4229100" cy="1357313"/>
          </a:xfrm>
          <a:prstGeom prst="rect">
            <a:avLst/>
          </a:prstGeom>
          <a:solidFill>
            <a:srgbClr val="4299E1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28600" y="785813"/>
            <a:ext cx="28575" cy="1357313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6" name="Text 3"/>
          <p:cNvSpPr/>
          <p:nvPr/>
        </p:nvSpPr>
        <p:spPr>
          <a:xfrm>
            <a:off x="342900" y="900113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que é o FDR?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342900" y="1180505"/>
            <a:ext cx="1487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491635" y="1180505"/>
            <a:ext cx="244333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Fundo Descentralizado de Reserva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2934965" y="1180505"/>
            <a:ext cx="93357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é um sistema 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342900" y="1394817"/>
            <a:ext cx="383348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seguro de gestão de carteiras Bitcoin que atua como hub 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342900" y="1609130"/>
            <a:ext cx="350188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central de liquidez para operações de arbitragem de 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342900" y="1823442"/>
            <a:ext cx="96571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criptomoedas.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228600" y="2314575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Propósito</a:t>
            </a:r>
            <a:endParaRPr lang="en-US" sz="13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771775"/>
            <a:ext cx="75009" cy="857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0759" y="2694980"/>
            <a:ext cx="36050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Fornecer capital inicial para operações de arbitragem</a:t>
            </a:r>
            <a:endParaRPr lang="en-US" sz="1046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043238"/>
            <a:ext cx="75009" cy="857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0759" y="2966442"/>
            <a:ext cx="366775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Rebalancear fundos entre exchanges de forma segura</a:t>
            </a:r>
            <a:endParaRPr lang="en-US" sz="1046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314700"/>
            <a:ext cx="75009" cy="857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60759" y="3237905"/>
            <a:ext cx="320227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Consolidar lucros das operações de arbitragem</a:t>
            </a:r>
            <a:endParaRPr lang="en-US" sz="1046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586163"/>
            <a:ext cx="75009" cy="857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60759" y="3509367"/>
            <a:ext cx="355030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Proteger chaves privadas com criptografia avançada</a:t>
            </a:r>
            <a:endParaRPr lang="en-US" sz="1046" dirty="0"/>
          </a:p>
        </p:txBody>
      </p:sp>
      <p:sp>
        <p:nvSpPr>
          <p:cNvPr id="22" name="Shape 15"/>
          <p:cNvSpPr/>
          <p:nvPr/>
        </p:nvSpPr>
        <p:spPr>
          <a:xfrm>
            <a:off x="228600" y="3886200"/>
            <a:ext cx="2057400" cy="942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16"/>
          <p:cNvSpPr/>
          <p:nvPr/>
        </p:nvSpPr>
        <p:spPr>
          <a:xfrm>
            <a:off x="400050" y="4057650"/>
            <a:ext cx="1714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Capacidade</a:t>
            </a:r>
            <a:endParaRPr lang="en-US" sz="1046" dirty="0"/>
          </a:p>
        </p:txBody>
      </p:sp>
      <p:sp>
        <p:nvSpPr>
          <p:cNvPr id="24" name="Text 17"/>
          <p:cNvSpPr/>
          <p:nvPr/>
        </p:nvSpPr>
        <p:spPr>
          <a:xfrm>
            <a:off x="400050" y="4314825"/>
            <a:ext cx="1714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2000+ BTC</a:t>
            </a:r>
            <a:endParaRPr lang="en-US" sz="942" dirty="0"/>
          </a:p>
        </p:txBody>
      </p:sp>
      <p:sp>
        <p:nvSpPr>
          <p:cNvPr id="25" name="Text 18"/>
          <p:cNvSpPr/>
          <p:nvPr/>
        </p:nvSpPr>
        <p:spPr>
          <a:xfrm>
            <a:off x="400050" y="4514850"/>
            <a:ext cx="1714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Capital gerenciado</a:t>
            </a:r>
            <a:endParaRPr lang="en-US" sz="732" dirty="0"/>
          </a:p>
        </p:txBody>
      </p:sp>
      <p:sp>
        <p:nvSpPr>
          <p:cNvPr id="26" name="Shape 19"/>
          <p:cNvSpPr/>
          <p:nvPr/>
        </p:nvSpPr>
        <p:spPr>
          <a:xfrm>
            <a:off x="2400300" y="3886200"/>
            <a:ext cx="2057400" cy="942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0"/>
          <p:cNvSpPr/>
          <p:nvPr/>
        </p:nvSpPr>
        <p:spPr>
          <a:xfrm>
            <a:off x="2571750" y="4057650"/>
            <a:ext cx="1714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Segurança</a:t>
            </a:r>
            <a:endParaRPr lang="en-US" sz="1046" dirty="0"/>
          </a:p>
        </p:txBody>
      </p:sp>
      <p:sp>
        <p:nvSpPr>
          <p:cNvPr id="28" name="Text 21"/>
          <p:cNvSpPr/>
          <p:nvPr/>
        </p:nvSpPr>
        <p:spPr>
          <a:xfrm>
            <a:off x="2571750" y="4314825"/>
            <a:ext cx="1714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AES-256</a:t>
            </a:r>
            <a:endParaRPr lang="en-US" sz="942" dirty="0"/>
          </a:p>
        </p:txBody>
      </p:sp>
      <p:sp>
        <p:nvSpPr>
          <p:cNvPr id="29" name="Text 22"/>
          <p:cNvSpPr/>
          <p:nvPr/>
        </p:nvSpPr>
        <p:spPr>
          <a:xfrm>
            <a:off x="2571750" y="4514850"/>
            <a:ext cx="1714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Criptografia militar</a:t>
            </a:r>
            <a:endParaRPr lang="en-US" sz="732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1764702"/>
            <a:ext cx="4229100" cy="20855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173357" y="4886325"/>
            <a:ext cx="185634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FDR: Fundo Descentralizado de Reserva </a:t>
            </a:r>
            <a:endParaRPr lang="en-US" sz="73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293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Arquitetura do Sistema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28600" y="785813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Componentes Principais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28600" y="1157288"/>
            <a:ext cx="4229100" cy="814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157288"/>
            <a:ext cx="28575" cy="814388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7" name="Text 4"/>
          <p:cNvSpPr/>
          <p:nvPr/>
        </p:nvSpPr>
        <p:spPr>
          <a:xfrm>
            <a:off x="314325" y="1243013"/>
            <a:ext cx="40576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FDR Security Manager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314325" y="1457325"/>
            <a:ext cx="4057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Gerenciamento seguro de chaves privadas com criptografia AES-256</a:t>
            </a:r>
            <a:endParaRPr lang="en-US" sz="1046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856" y="2100263"/>
            <a:ext cx="128588" cy="1714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28600" y="2400300"/>
            <a:ext cx="4229100" cy="814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228600" y="2400300"/>
            <a:ext cx="28575" cy="814388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2" name="Text 8"/>
          <p:cNvSpPr/>
          <p:nvPr/>
        </p:nvSpPr>
        <p:spPr>
          <a:xfrm>
            <a:off x="314325" y="2486025"/>
            <a:ext cx="40576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FDR Manager</a:t>
            </a:r>
            <a:endParaRPr lang="en-US" sz="1046" dirty="0"/>
          </a:p>
        </p:txBody>
      </p:sp>
      <p:sp>
        <p:nvSpPr>
          <p:cNvPr id="13" name="Text 9"/>
          <p:cNvSpPr/>
          <p:nvPr/>
        </p:nvSpPr>
        <p:spPr>
          <a:xfrm>
            <a:off x="314325" y="2700338"/>
            <a:ext cx="4057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Gerenciamento de carteiras, UTXOs e preparação de transações</a:t>
            </a:r>
            <a:endParaRPr lang="en-US" sz="1046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856" y="3343275"/>
            <a:ext cx="128588" cy="17145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28600" y="3643313"/>
            <a:ext cx="4229100" cy="814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1"/>
          <p:cNvSpPr/>
          <p:nvPr/>
        </p:nvSpPr>
        <p:spPr>
          <a:xfrm>
            <a:off x="228600" y="3643313"/>
            <a:ext cx="28575" cy="814388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7" name="Text 12"/>
          <p:cNvSpPr/>
          <p:nvPr/>
        </p:nvSpPr>
        <p:spPr>
          <a:xfrm>
            <a:off x="314325" y="3729038"/>
            <a:ext cx="40576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FDR Backend Integration</a:t>
            </a:r>
            <a:endParaRPr lang="en-US" sz="1046" dirty="0"/>
          </a:p>
        </p:txBody>
      </p:sp>
      <p:sp>
        <p:nvSpPr>
          <p:cNvPr id="18" name="Text 13"/>
          <p:cNvSpPr/>
          <p:nvPr/>
        </p:nvSpPr>
        <p:spPr>
          <a:xfrm>
            <a:off x="314325" y="3943350"/>
            <a:ext cx="4057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com operações de arbitragem e rebalanceamento</a:t>
            </a:r>
            <a:endParaRPr lang="en-US" sz="1046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856" y="4586288"/>
            <a:ext cx="128588" cy="17145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228600" y="4886325"/>
            <a:ext cx="4229100" cy="814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5"/>
          <p:cNvSpPr/>
          <p:nvPr/>
        </p:nvSpPr>
        <p:spPr>
          <a:xfrm>
            <a:off x="228600" y="4886325"/>
            <a:ext cx="28575" cy="814388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22" name="Text 16"/>
          <p:cNvSpPr/>
          <p:nvPr/>
        </p:nvSpPr>
        <p:spPr>
          <a:xfrm>
            <a:off x="314325" y="4972050"/>
            <a:ext cx="40576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FDR API REST</a:t>
            </a:r>
            <a:endParaRPr lang="en-US" sz="1046" dirty="0"/>
          </a:p>
        </p:txBody>
      </p:sp>
      <p:sp>
        <p:nvSpPr>
          <p:cNvPr id="23" name="Text 17"/>
          <p:cNvSpPr/>
          <p:nvPr/>
        </p:nvSpPr>
        <p:spPr>
          <a:xfrm>
            <a:off x="314325" y="5186363"/>
            <a:ext cx="4057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Endpoints para interação com o frontend e sistemas externos</a:t>
            </a:r>
            <a:endParaRPr lang="en-US" sz="1046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5760" y="1366828"/>
            <a:ext cx="3310151" cy="2143125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686300" y="4090969"/>
            <a:ext cx="4229100" cy="10287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6" name="Text 19"/>
          <p:cNvSpPr/>
          <p:nvPr/>
        </p:nvSpPr>
        <p:spPr>
          <a:xfrm>
            <a:off x="4800600" y="4205269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Integrações Externas</a:t>
            </a:r>
            <a:endParaRPr lang="en-US" sz="837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2075" y="4433869"/>
            <a:ext cx="171450" cy="1714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800600" y="4662469"/>
            <a:ext cx="914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Exchanges</a:t>
            </a:r>
            <a:endParaRPr lang="en-US" sz="837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0775" y="4433869"/>
            <a:ext cx="171450" cy="17145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829300" y="4662469"/>
            <a:ext cx="914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BlockCypher API</a:t>
            </a:r>
            <a:endParaRPr lang="en-US" sz="837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8044" y="4433869"/>
            <a:ext cx="214313" cy="17145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858000" y="4662469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 de Arbitragem</a:t>
            </a:r>
            <a:endParaRPr lang="en-US" sz="837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8175" y="4433869"/>
            <a:ext cx="171450" cy="17145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886700" y="4662469"/>
            <a:ext cx="914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Dashboard</a:t>
            </a:r>
            <a:endParaRPr lang="en-US" sz="83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792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Segurança e Proteção de Chaves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28600" y="785813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Medidas de Segurança Implementadas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28600" y="1214438"/>
            <a:ext cx="2057400" cy="1143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350169"/>
            <a:ext cx="150019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0069" y="1328738"/>
            <a:ext cx="142347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Criptografia AES-256</a:t>
            </a:r>
            <a:endParaRPr lang="en-US" sz="1046" dirty="0"/>
          </a:p>
        </p:txBody>
      </p:sp>
      <p:sp>
        <p:nvSpPr>
          <p:cNvPr id="8" name="Text 4"/>
          <p:cNvSpPr/>
          <p:nvPr/>
        </p:nvSpPr>
        <p:spPr>
          <a:xfrm>
            <a:off x="342900" y="1600200"/>
            <a:ext cx="18288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Padrão de criptografia militar para proteção de chaves privadas</a:t>
            </a:r>
            <a:endParaRPr lang="en-US" sz="1046" dirty="0"/>
          </a:p>
        </p:txBody>
      </p:sp>
      <p:sp>
        <p:nvSpPr>
          <p:cNvPr id="9" name="Shape 5"/>
          <p:cNvSpPr/>
          <p:nvPr/>
        </p:nvSpPr>
        <p:spPr>
          <a:xfrm>
            <a:off x="2400300" y="1214438"/>
            <a:ext cx="2057400" cy="1143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350169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43200" y="1328738"/>
            <a:ext cx="15836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PBKDF2-HMAC-SHA256</a:t>
            </a:r>
            <a:endParaRPr lang="en-US" sz="1046" dirty="0"/>
          </a:p>
        </p:txBody>
      </p:sp>
      <p:sp>
        <p:nvSpPr>
          <p:cNvPr id="12" name="Text 7"/>
          <p:cNvSpPr/>
          <p:nvPr/>
        </p:nvSpPr>
        <p:spPr>
          <a:xfrm>
            <a:off x="2514600" y="1600200"/>
            <a:ext cx="18288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Derivação de chaves com 100.000 iterações para máxima segurança</a:t>
            </a:r>
            <a:endParaRPr lang="en-US" sz="1046" dirty="0"/>
          </a:p>
        </p:txBody>
      </p:sp>
      <p:sp>
        <p:nvSpPr>
          <p:cNvPr id="13" name="Shape 8"/>
          <p:cNvSpPr/>
          <p:nvPr/>
        </p:nvSpPr>
        <p:spPr>
          <a:xfrm>
            <a:off x="228600" y="2471738"/>
            <a:ext cx="2057400" cy="135731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2714625"/>
            <a:ext cx="171450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71500" y="2586038"/>
            <a:ext cx="1600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Armazenamento Seguro</a:t>
            </a:r>
            <a:endParaRPr lang="en-US" sz="1046" dirty="0"/>
          </a:p>
        </p:txBody>
      </p:sp>
      <p:sp>
        <p:nvSpPr>
          <p:cNvPr id="16" name="Text 10"/>
          <p:cNvSpPr/>
          <p:nvPr/>
        </p:nvSpPr>
        <p:spPr>
          <a:xfrm>
            <a:off x="342900" y="3071813"/>
            <a:ext cx="18288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Chaves privadas nunca armazenadas em texto plano</a:t>
            </a:r>
            <a:endParaRPr lang="en-US" sz="1046" dirty="0"/>
          </a:p>
        </p:txBody>
      </p:sp>
      <p:sp>
        <p:nvSpPr>
          <p:cNvPr id="17" name="Shape 11"/>
          <p:cNvSpPr/>
          <p:nvPr/>
        </p:nvSpPr>
        <p:spPr>
          <a:xfrm>
            <a:off x="2400300" y="2471738"/>
            <a:ext cx="2057400" cy="135731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607469"/>
            <a:ext cx="171450" cy="1714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743200" y="2586038"/>
            <a:ext cx="136032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Auditoria Completa</a:t>
            </a:r>
            <a:endParaRPr lang="en-US" sz="1046" dirty="0"/>
          </a:p>
        </p:txBody>
      </p:sp>
      <p:sp>
        <p:nvSpPr>
          <p:cNvPr id="20" name="Text 13"/>
          <p:cNvSpPr/>
          <p:nvPr/>
        </p:nvSpPr>
        <p:spPr>
          <a:xfrm>
            <a:off x="2514600" y="2857500"/>
            <a:ext cx="18288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Registro de todas as operações sensíveis para rastreabilidade</a:t>
            </a:r>
            <a:endParaRPr lang="en-US" sz="1046" dirty="0"/>
          </a:p>
        </p:txBody>
      </p:sp>
      <p:sp>
        <p:nvSpPr>
          <p:cNvPr id="21" name="Shape 14"/>
          <p:cNvSpPr/>
          <p:nvPr/>
        </p:nvSpPr>
        <p:spPr>
          <a:xfrm>
            <a:off x="228600" y="4000500"/>
            <a:ext cx="4229100" cy="928688"/>
          </a:xfrm>
          <a:prstGeom prst="rect">
            <a:avLst/>
          </a:prstGeom>
          <a:solidFill>
            <a:srgbClr val="E53E3E">
              <a:alpha val="10000"/>
            </a:srgbClr>
          </a:solidFill>
          <a:ln/>
        </p:spPr>
      </p:sp>
      <p:sp>
        <p:nvSpPr>
          <p:cNvPr id="22" name="Shape 15"/>
          <p:cNvSpPr/>
          <p:nvPr/>
        </p:nvSpPr>
        <p:spPr>
          <a:xfrm>
            <a:off x="228600" y="4000500"/>
            <a:ext cx="28575" cy="92868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3" name="Text 16"/>
          <p:cNvSpPr/>
          <p:nvPr/>
        </p:nvSpPr>
        <p:spPr>
          <a:xfrm>
            <a:off x="342900" y="4114800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DC26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Proteção Crítica</a:t>
            </a:r>
            <a:endParaRPr lang="en-US" sz="1046" dirty="0"/>
          </a:p>
        </p:txBody>
      </p:sp>
      <p:sp>
        <p:nvSpPr>
          <p:cNvPr id="24" name="Text 17"/>
          <p:cNvSpPr/>
          <p:nvPr/>
        </p:nvSpPr>
        <p:spPr>
          <a:xfrm>
            <a:off x="342900" y="4395192"/>
            <a:ext cx="27352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 chaves privadas protegem o acesso a </a:t>
            </a:r>
            <a:endParaRPr lang="en-US" sz="1046" dirty="0"/>
          </a:p>
        </p:txBody>
      </p:sp>
      <p:sp>
        <p:nvSpPr>
          <p:cNvPr id="25" name="Text 18"/>
          <p:cNvSpPr/>
          <p:nvPr/>
        </p:nvSpPr>
        <p:spPr>
          <a:xfrm>
            <a:off x="3078119" y="4395192"/>
            <a:ext cx="71267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2000+ BTC</a:t>
            </a:r>
            <a:endParaRPr lang="en-US" sz="1046" dirty="0"/>
          </a:p>
        </p:txBody>
      </p:sp>
      <p:sp>
        <p:nvSpPr>
          <p:cNvPr id="26" name="Text 19"/>
          <p:cNvSpPr/>
          <p:nvPr/>
        </p:nvSpPr>
        <p:spPr>
          <a:xfrm>
            <a:off x="3790792" y="4395192"/>
            <a:ext cx="5135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são o </a:t>
            </a:r>
            <a:endParaRPr lang="en-US" sz="1046" dirty="0"/>
          </a:p>
        </p:txBody>
      </p:sp>
      <p:sp>
        <p:nvSpPr>
          <p:cNvPr id="27" name="Text 20"/>
          <p:cNvSpPr/>
          <p:nvPr/>
        </p:nvSpPr>
        <p:spPr>
          <a:xfrm>
            <a:off x="342900" y="4609505"/>
            <a:ext cx="318756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elemento mais crítico de segurança do sistema.</a:t>
            </a:r>
            <a:endParaRPr lang="en-US" sz="1046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7228" y="785813"/>
            <a:ext cx="3847244" cy="2143125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4686300" y="3100388"/>
            <a:ext cx="4229100" cy="11930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2"/>
          <p:cNvSpPr/>
          <p:nvPr/>
        </p:nvSpPr>
        <p:spPr>
          <a:xfrm>
            <a:off x="4800600" y="3214688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Fluxo de Criptografia</a:t>
            </a:r>
            <a:endParaRPr lang="en-US" sz="1350" dirty="0"/>
          </a:p>
        </p:txBody>
      </p:sp>
      <p:sp>
        <p:nvSpPr>
          <p:cNvPr id="31" name="Shape 23"/>
          <p:cNvSpPr/>
          <p:nvPr/>
        </p:nvSpPr>
        <p:spPr>
          <a:xfrm>
            <a:off x="5421157" y="3586163"/>
            <a:ext cx="563631" cy="364331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7248" y="3671888"/>
            <a:ext cx="171450" cy="17145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421157" y="4007644"/>
            <a:ext cx="5636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Chave WIF</a:t>
            </a:r>
            <a:endParaRPr lang="en-US" sz="837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9088" y="3825478"/>
            <a:ext cx="100013" cy="114300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6313401" y="3586163"/>
            <a:ext cx="641933" cy="364331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9358" y="3671888"/>
            <a:ext cx="150019" cy="17145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313401" y="4007644"/>
            <a:ext cx="6419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Criptografia</a:t>
            </a:r>
            <a:endParaRPr lang="en-US" sz="837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9634" y="3825478"/>
            <a:ext cx="100013" cy="114300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7283946" y="3586163"/>
            <a:ext cx="896569" cy="364331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57207" y="3671888"/>
            <a:ext cx="150019" cy="17145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7283946" y="4007644"/>
            <a:ext cx="8965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Armazenamento</a:t>
            </a:r>
            <a:endParaRPr lang="en-US" sz="837" dirty="0"/>
          </a:p>
        </p:txBody>
      </p:sp>
      <p:sp>
        <p:nvSpPr>
          <p:cNvPr id="42" name="Shape 29"/>
          <p:cNvSpPr/>
          <p:nvPr/>
        </p:nvSpPr>
        <p:spPr>
          <a:xfrm>
            <a:off x="4686300" y="4464844"/>
            <a:ext cx="4229100" cy="108585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3" name="Text 30"/>
          <p:cNvSpPr/>
          <p:nvPr/>
        </p:nvSpPr>
        <p:spPr>
          <a:xfrm>
            <a:off x="4800600" y="4579144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Proteções Adicionais</a:t>
            </a:r>
            <a:endParaRPr lang="en-US" sz="837" dirty="0"/>
          </a:p>
        </p:txBody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0600" y="4836319"/>
            <a:ext cx="114300" cy="114300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4972050" y="4814888"/>
            <a:ext cx="26941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Verificação de integridade em todas as operações</a:t>
            </a:r>
            <a:endParaRPr lang="en-US" sz="837" dirty="0"/>
          </a:p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00600" y="5064919"/>
            <a:ext cx="114300" cy="114300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4972050" y="5043488"/>
            <a:ext cx="20680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Limites de transferência configuráveis</a:t>
            </a:r>
            <a:endParaRPr lang="en-US" sz="837" dirty="0"/>
          </a:p>
        </p:txBody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00600" y="5293519"/>
            <a:ext cx="114300" cy="114300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4972050" y="5272088"/>
            <a:ext cx="27389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Sistema de aprovação para transferências grandes</a:t>
            </a:r>
            <a:endParaRPr lang="en-US" sz="83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328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Dashboard do FDR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28600" y="728663"/>
            <a:ext cx="4257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Interface de Monitoramento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28600" y="1109067"/>
            <a:ext cx="103813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componente 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1266732" y="1143000"/>
            <a:ext cx="111462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FdrWallet.tsx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2381352" y="1109067"/>
            <a:ext cx="152092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fornece uma interface 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228600" y="1341239"/>
            <a:ext cx="334785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completa para monitoramento e gestão do Fundo 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228600" y="1555552"/>
            <a:ext cx="188525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Descentralizado de Reserva.</a:t>
            </a:r>
            <a:endParaRPr lang="en-US" sz="1046" dirty="0"/>
          </a:p>
        </p:txBody>
      </p:sp>
      <p:sp>
        <p:nvSpPr>
          <p:cNvPr id="10" name="Shape 7"/>
          <p:cNvSpPr/>
          <p:nvPr/>
        </p:nvSpPr>
        <p:spPr>
          <a:xfrm>
            <a:off x="228600" y="1875234"/>
            <a:ext cx="2085975" cy="10001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1953816"/>
            <a:ext cx="171450" cy="171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925" y="1932384"/>
            <a:ext cx="155262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Saldos em Tempo Real</a:t>
            </a:r>
            <a:endParaRPr lang="en-US" sz="1046" dirty="0"/>
          </a:p>
        </p:txBody>
      </p:sp>
      <p:sp>
        <p:nvSpPr>
          <p:cNvPr id="13" name="Text 9"/>
          <p:cNvSpPr/>
          <p:nvPr/>
        </p:nvSpPr>
        <p:spPr>
          <a:xfrm>
            <a:off x="314325" y="2175272"/>
            <a:ext cx="19145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Monitoramento de saldos de todas as carteiras do FDR</a:t>
            </a:r>
            <a:endParaRPr lang="en-US" sz="1046" dirty="0"/>
          </a:p>
        </p:txBody>
      </p:sp>
      <p:sp>
        <p:nvSpPr>
          <p:cNvPr id="14" name="Shape 10"/>
          <p:cNvSpPr/>
          <p:nvPr/>
        </p:nvSpPr>
        <p:spPr>
          <a:xfrm>
            <a:off x="2400300" y="1875234"/>
            <a:ext cx="2085975" cy="10001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025" y="1953816"/>
            <a:ext cx="171450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714625" y="1932384"/>
            <a:ext cx="101714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Transferências</a:t>
            </a:r>
            <a:endParaRPr lang="en-US" sz="1046" dirty="0"/>
          </a:p>
        </p:txBody>
      </p:sp>
      <p:sp>
        <p:nvSpPr>
          <p:cNvPr id="17" name="Text 12"/>
          <p:cNvSpPr/>
          <p:nvPr/>
        </p:nvSpPr>
        <p:spPr>
          <a:xfrm>
            <a:off x="2486025" y="2175272"/>
            <a:ext cx="19145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Interface para preparação e monitoramento de transferências</a:t>
            </a:r>
            <a:endParaRPr lang="en-US" sz="1046" dirty="0"/>
          </a:p>
        </p:txBody>
      </p:sp>
      <p:sp>
        <p:nvSpPr>
          <p:cNvPr id="18" name="Shape 13"/>
          <p:cNvSpPr/>
          <p:nvPr/>
        </p:nvSpPr>
        <p:spPr>
          <a:xfrm>
            <a:off x="228600" y="2961084"/>
            <a:ext cx="2085975" cy="121443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5" y="3039666"/>
            <a:ext cx="214313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85788" y="3018234"/>
            <a:ext cx="126232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Rebalanceamento</a:t>
            </a:r>
            <a:endParaRPr lang="en-US" sz="1046" dirty="0"/>
          </a:p>
        </p:txBody>
      </p:sp>
      <p:sp>
        <p:nvSpPr>
          <p:cNvPr id="21" name="Text 15"/>
          <p:cNvSpPr/>
          <p:nvPr/>
        </p:nvSpPr>
        <p:spPr>
          <a:xfrm>
            <a:off x="314325" y="3261122"/>
            <a:ext cx="19145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Visualização de necessidades de rebalanceamento entre exchanges</a:t>
            </a:r>
            <a:endParaRPr lang="en-US" sz="1046" dirty="0"/>
          </a:p>
        </p:txBody>
      </p:sp>
      <p:sp>
        <p:nvSpPr>
          <p:cNvPr id="22" name="Shape 16"/>
          <p:cNvSpPr/>
          <p:nvPr/>
        </p:nvSpPr>
        <p:spPr>
          <a:xfrm>
            <a:off x="2400300" y="2961084"/>
            <a:ext cx="2085975" cy="121443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6025" y="3039666"/>
            <a:ext cx="171450" cy="1714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714625" y="3018234"/>
            <a:ext cx="142104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Status de Segurança</a:t>
            </a:r>
            <a:endParaRPr lang="en-US" sz="1046" dirty="0"/>
          </a:p>
        </p:txBody>
      </p:sp>
      <p:sp>
        <p:nvSpPr>
          <p:cNvPr id="25" name="Text 18"/>
          <p:cNvSpPr/>
          <p:nvPr/>
        </p:nvSpPr>
        <p:spPr>
          <a:xfrm>
            <a:off x="2486025" y="3261122"/>
            <a:ext cx="19145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Indicadores de status da criptografia e proteção de chaves</a:t>
            </a:r>
            <a:endParaRPr lang="en-US" sz="1046" dirty="0"/>
          </a:p>
        </p:txBody>
      </p:sp>
      <p:sp>
        <p:nvSpPr>
          <p:cNvPr id="26" name="Shape 19"/>
          <p:cNvSpPr/>
          <p:nvPr/>
        </p:nvSpPr>
        <p:spPr>
          <a:xfrm>
            <a:off x="228600" y="4289822"/>
            <a:ext cx="4257675" cy="1114425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7" name="Text 20"/>
          <p:cNvSpPr/>
          <p:nvPr/>
        </p:nvSpPr>
        <p:spPr>
          <a:xfrm>
            <a:off x="314325" y="4375547"/>
            <a:ext cx="40862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com o Bot de Arbitragem</a:t>
            </a:r>
            <a:endParaRPr lang="en-US" sz="1046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25" y="4654153"/>
            <a:ext cx="142875" cy="14287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4350" y="4627364"/>
            <a:ext cx="308183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Visualização de oportunidades de arbitragem</a:t>
            </a:r>
            <a:endParaRPr lang="en-US" sz="1046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325" y="4897041"/>
            <a:ext cx="142875" cy="14287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14350" y="4870252"/>
            <a:ext cx="309653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Monitoramento de operações em andamento</a:t>
            </a:r>
            <a:endParaRPr lang="en-US" sz="1046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325" y="5139928"/>
            <a:ext cx="142875" cy="14287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14350" y="5113139"/>
            <a:ext cx="295795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Acompanhamento de lucros e performance</a:t>
            </a:r>
            <a:endParaRPr lang="en-US" sz="1046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62572" y="934631"/>
            <a:ext cx="3047981" cy="2286000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4657725" y="3426600"/>
            <a:ext cx="4257675" cy="1771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25"/>
          <p:cNvSpPr/>
          <p:nvPr/>
        </p:nvSpPr>
        <p:spPr>
          <a:xfrm>
            <a:off x="4743450" y="3512325"/>
            <a:ext cx="40862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Distribuição de Capital</a:t>
            </a:r>
            <a:endParaRPr lang="en-US" sz="135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3450" y="3826650"/>
            <a:ext cx="4086225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63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REST do FDR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28600" y="785813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Endpoints Principais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28600" y="1157288"/>
            <a:ext cx="2071688" cy="7429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314325" y="1425178"/>
            <a:ext cx="357188" cy="207169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7" name="Text 4"/>
          <p:cNvSpPr/>
          <p:nvPr/>
        </p:nvSpPr>
        <p:spPr>
          <a:xfrm>
            <a:off x="314325" y="1425178"/>
            <a:ext cx="357188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</a:t>
            </a:r>
            <a:endParaRPr lang="en-US" sz="732" dirty="0"/>
          </a:p>
        </p:txBody>
      </p:sp>
      <p:sp>
        <p:nvSpPr>
          <p:cNvPr id="8" name="Text 5"/>
          <p:cNvSpPr/>
          <p:nvPr/>
        </p:nvSpPr>
        <p:spPr>
          <a:xfrm>
            <a:off x="757238" y="1278731"/>
            <a:ext cx="14573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/api/fdr/dashboard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757238" y="1493044"/>
            <a:ext cx="14573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Dados completos para o dashboard</a:t>
            </a:r>
            <a:endParaRPr lang="en-US" sz="732" dirty="0"/>
          </a:p>
        </p:txBody>
      </p:sp>
      <p:sp>
        <p:nvSpPr>
          <p:cNvPr id="10" name="Shape 7"/>
          <p:cNvSpPr/>
          <p:nvPr/>
        </p:nvSpPr>
        <p:spPr>
          <a:xfrm>
            <a:off x="2386013" y="1157288"/>
            <a:ext cx="2071688" cy="7429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471738" y="1425178"/>
            <a:ext cx="357188" cy="207169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2" name="Text 9"/>
          <p:cNvSpPr/>
          <p:nvPr/>
        </p:nvSpPr>
        <p:spPr>
          <a:xfrm>
            <a:off x="2471738" y="1425178"/>
            <a:ext cx="357188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</a:t>
            </a:r>
            <a:endParaRPr lang="en-US" sz="732" dirty="0"/>
          </a:p>
        </p:txBody>
      </p:sp>
      <p:sp>
        <p:nvSpPr>
          <p:cNvPr id="13" name="Text 10"/>
          <p:cNvSpPr/>
          <p:nvPr/>
        </p:nvSpPr>
        <p:spPr>
          <a:xfrm>
            <a:off x="2914650" y="1350169"/>
            <a:ext cx="118056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/api/fdr/balance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2914650" y="1564481"/>
            <a:ext cx="118056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Saldo e capital disponível</a:t>
            </a:r>
            <a:endParaRPr lang="en-US" sz="732" dirty="0"/>
          </a:p>
        </p:txBody>
      </p:sp>
      <p:sp>
        <p:nvSpPr>
          <p:cNvPr id="15" name="Shape 12"/>
          <p:cNvSpPr/>
          <p:nvPr/>
        </p:nvSpPr>
        <p:spPr>
          <a:xfrm>
            <a:off x="228600" y="1985963"/>
            <a:ext cx="2071688" cy="7429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314325" y="2253853"/>
            <a:ext cx="357188" cy="207169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7" name="Text 14"/>
          <p:cNvSpPr/>
          <p:nvPr/>
        </p:nvSpPr>
        <p:spPr>
          <a:xfrm>
            <a:off x="314325" y="2253853"/>
            <a:ext cx="357188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</a:t>
            </a:r>
            <a:endParaRPr lang="en-US" sz="732" dirty="0"/>
          </a:p>
        </p:txBody>
      </p:sp>
      <p:sp>
        <p:nvSpPr>
          <p:cNvPr id="18" name="Text 15"/>
          <p:cNvSpPr/>
          <p:nvPr/>
        </p:nvSpPr>
        <p:spPr>
          <a:xfrm>
            <a:off x="757238" y="2178844"/>
            <a:ext cx="10858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/api/fdr/wallets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757238" y="2393156"/>
            <a:ext cx="10858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Lista de carteiras</a:t>
            </a:r>
            <a:endParaRPr lang="en-US" sz="732" dirty="0"/>
          </a:p>
        </p:txBody>
      </p:sp>
      <p:sp>
        <p:nvSpPr>
          <p:cNvPr id="20" name="Shape 17"/>
          <p:cNvSpPr/>
          <p:nvPr/>
        </p:nvSpPr>
        <p:spPr>
          <a:xfrm>
            <a:off x="2386013" y="1985963"/>
            <a:ext cx="2071688" cy="7429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2471738" y="2253853"/>
            <a:ext cx="357188" cy="207169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22" name="Text 19"/>
          <p:cNvSpPr/>
          <p:nvPr/>
        </p:nvSpPr>
        <p:spPr>
          <a:xfrm>
            <a:off x="2471738" y="2253853"/>
            <a:ext cx="357188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</a:t>
            </a:r>
            <a:endParaRPr lang="en-US" sz="732" dirty="0"/>
          </a:p>
        </p:txBody>
      </p:sp>
      <p:sp>
        <p:nvSpPr>
          <p:cNvPr id="23" name="Text 20"/>
          <p:cNvSpPr/>
          <p:nvPr/>
        </p:nvSpPr>
        <p:spPr>
          <a:xfrm>
            <a:off x="2914650" y="2178844"/>
            <a:ext cx="10958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/api/fdr/status</a:t>
            </a:r>
            <a:endParaRPr lang="en-US" sz="1046" dirty="0"/>
          </a:p>
        </p:txBody>
      </p:sp>
      <p:sp>
        <p:nvSpPr>
          <p:cNvPr id="24" name="Text 21"/>
          <p:cNvSpPr/>
          <p:nvPr/>
        </p:nvSpPr>
        <p:spPr>
          <a:xfrm>
            <a:off x="2914650" y="2393156"/>
            <a:ext cx="10958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Status geral do sistema</a:t>
            </a:r>
            <a:endParaRPr lang="en-US" sz="732" dirty="0"/>
          </a:p>
        </p:txBody>
      </p:sp>
      <p:sp>
        <p:nvSpPr>
          <p:cNvPr id="25" name="Shape 22"/>
          <p:cNvSpPr/>
          <p:nvPr/>
        </p:nvSpPr>
        <p:spPr>
          <a:xfrm>
            <a:off x="228600" y="2814638"/>
            <a:ext cx="2071688" cy="7429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314325" y="3082528"/>
            <a:ext cx="357188" cy="207169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27" name="Text 24"/>
          <p:cNvSpPr/>
          <p:nvPr/>
        </p:nvSpPr>
        <p:spPr>
          <a:xfrm>
            <a:off x="314325" y="3082528"/>
            <a:ext cx="357188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</a:t>
            </a:r>
            <a:endParaRPr lang="en-US" sz="732" dirty="0"/>
          </a:p>
        </p:txBody>
      </p:sp>
      <p:sp>
        <p:nvSpPr>
          <p:cNvPr id="28" name="Text 25"/>
          <p:cNvSpPr/>
          <p:nvPr/>
        </p:nvSpPr>
        <p:spPr>
          <a:xfrm>
            <a:off x="757238" y="2900363"/>
            <a:ext cx="14573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/api/fdr/prepare-transfer</a:t>
            </a:r>
            <a:endParaRPr lang="en-US" sz="1046" dirty="0"/>
          </a:p>
        </p:txBody>
      </p:sp>
      <p:sp>
        <p:nvSpPr>
          <p:cNvPr id="29" name="Text 26"/>
          <p:cNvSpPr/>
          <p:nvPr/>
        </p:nvSpPr>
        <p:spPr>
          <a:xfrm>
            <a:off x="757238" y="3328988"/>
            <a:ext cx="14573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Preparar transferência</a:t>
            </a:r>
            <a:endParaRPr lang="en-US" sz="732" dirty="0"/>
          </a:p>
        </p:txBody>
      </p:sp>
      <p:sp>
        <p:nvSpPr>
          <p:cNvPr id="30" name="Shape 27"/>
          <p:cNvSpPr/>
          <p:nvPr/>
        </p:nvSpPr>
        <p:spPr>
          <a:xfrm>
            <a:off x="2386013" y="2814638"/>
            <a:ext cx="2071688" cy="7429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2471738" y="3082528"/>
            <a:ext cx="369745" cy="207169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32" name="Text 29"/>
          <p:cNvSpPr/>
          <p:nvPr/>
        </p:nvSpPr>
        <p:spPr>
          <a:xfrm>
            <a:off x="2471738" y="3082528"/>
            <a:ext cx="369745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</a:t>
            </a:r>
            <a:endParaRPr lang="en-US" sz="732" dirty="0"/>
          </a:p>
        </p:txBody>
      </p:sp>
      <p:sp>
        <p:nvSpPr>
          <p:cNvPr id="33" name="Text 30"/>
          <p:cNvSpPr/>
          <p:nvPr/>
        </p:nvSpPr>
        <p:spPr>
          <a:xfrm>
            <a:off x="2927207" y="3007519"/>
            <a:ext cx="141705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/api/fdr/rebalancing</a:t>
            </a:r>
            <a:endParaRPr lang="en-US" sz="1046" dirty="0"/>
          </a:p>
        </p:txBody>
      </p:sp>
      <p:sp>
        <p:nvSpPr>
          <p:cNvPr id="34" name="Text 31"/>
          <p:cNvSpPr/>
          <p:nvPr/>
        </p:nvSpPr>
        <p:spPr>
          <a:xfrm>
            <a:off x="2927207" y="3221831"/>
            <a:ext cx="141705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Calcular rebalanceamento</a:t>
            </a:r>
            <a:endParaRPr lang="en-US" sz="732" dirty="0"/>
          </a:p>
        </p:txBody>
      </p:sp>
      <p:sp>
        <p:nvSpPr>
          <p:cNvPr id="35" name="Shape 32"/>
          <p:cNvSpPr/>
          <p:nvPr/>
        </p:nvSpPr>
        <p:spPr>
          <a:xfrm>
            <a:off x="228600" y="3671888"/>
            <a:ext cx="4229100" cy="120015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6" name="Text 33"/>
          <p:cNvSpPr/>
          <p:nvPr/>
        </p:nvSpPr>
        <p:spPr>
          <a:xfrm>
            <a:off x="342900" y="3786188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Características da API</a:t>
            </a:r>
            <a:endParaRPr lang="en-US" sz="1046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4093369"/>
            <a:ext cx="142875" cy="142875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580095" y="4066580"/>
            <a:ext cx="151949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Autenticação via token </a:t>
            </a:r>
            <a:endParaRPr lang="en-US" sz="1046" dirty="0"/>
          </a:p>
        </p:txBody>
      </p:sp>
      <p:sp>
        <p:nvSpPr>
          <p:cNvPr id="39" name="Text 35"/>
          <p:cNvSpPr/>
          <p:nvPr/>
        </p:nvSpPr>
        <p:spPr>
          <a:xfrm>
            <a:off x="342900" y="4280892"/>
            <a:ext cx="25134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JWT</a:t>
            </a:r>
            <a:endParaRPr lang="en-US" sz="1046" dirty="0"/>
          </a:p>
        </p:txBody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725" y="4093369"/>
            <a:ext cx="142875" cy="142875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2608920" y="4066580"/>
            <a:ext cx="15156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Respostas em formato </a:t>
            </a:r>
            <a:endParaRPr lang="en-US" sz="1046" dirty="0"/>
          </a:p>
        </p:txBody>
      </p:sp>
      <p:sp>
        <p:nvSpPr>
          <p:cNvPr id="42" name="Text 37"/>
          <p:cNvSpPr/>
          <p:nvPr/>
        </p:nvSpPr>
        <p:spPr>
          <a:xfrm>
            <a:off x="2371725" y="4280892"/>
            <a:ext cx="3376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JSON</a:t>
            </a:r>
            <a:endParaRPr lang="en-US" sz="1046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4579144"/>
            <a:ext cx="142875" cy="142875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580095" y="4552355"/>
            <a:ext cx="105300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Suporte a CORS</a:t>
            </a:r>
            <a:endParaRPr lang="en-US" sz="1046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1725" y="4579144"/>
            <a:ext cx="142875" cy="142875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2608920" y="4552355"/>
            <a:ext cx="16403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Documentação Swagger</a:t>
            </a:r>
            <a:endParaRPr lang="en-US" sz="1046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4563" y="785813"/>
            <a:ext cx="3092546" cy="2000250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4686300" y="2786063"/>
            <a:ext cx="4229100" cy="2171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1"/>
          <p:cNvSpPr/>
          <p:nvPr/>
        </p:nvSpPr>
        <p:spPr>
          <a:xfrm>
            <a:off x="4800600" y="2900363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Distribuição de Requisições</a:t>
            </a:r>
            <a:endParaRPr lang="en-US" sz="1350" dirty="0"/>
          </a:p>
        </p:txBody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3271838"/>
            <a:ext cx="4000500" cy="1571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57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com Arbitragem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28600" y="785813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Funcionalidades de Arbitragem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28600" y="1214438"/>
            <a:ext cx="4229100" cy="9286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350169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1328738"/>
            <a:ext cx="17078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Fornecimento de Capital</a:t>
            </a:r>
            <a:endParaRPr lang="en-US" sz="1046" dirty="0"/>
          </a:p>
        </p:txBody>
      </p:sp>
      <p:sp>
        <p:nvSpPr>
          <p:cNvPr id="8" name="Text 4"/>
          <p:cNvSpPr/>
          <p:nvPr/>
        </p:nvSpPr>
        <p:spPr>
          <a:xfrm>
            <a:off x="342900" y="1600200"/>
            <a:ext cx="400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Transferência automática de fundos para exchanges com validação de saldo e UTXOs</a:t>
            </a:r>
            <a:endParaRPr lang="en-US" sz="1046" dirty="0"/>
          </a:p>
        </p:txBody>
      </p:sp>
      <p:sp>
        <p:nvSpPr>
          <p:cNvPr id="9" name="Shape 5"/>
          <p:cNvSpPr/>
          <p:nvPr/>
        </p:nvSpPr>
        <p:spPr>
          <a:xfrm>
            <a:off x="228600" y="2257425"/>
            <a:ext cx="4229100" cy="9286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2393156"/>
            <a:ext cx="214313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4363" y="2371725"/>
            <a:ext cx="207227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Rebalanceamento Inteligente</a:t>
            </a:r>
            <a:endParaRPr lang="en-US" sz="1046" dirty="0"/>
          </a:p>
        </p:txBody>
      </p:sp>
      <p:sp>
        <p:nvSpPr>
          <p:cNvPr id="12" name="Text 7"/>
          <p:cNvSpPr/>
          <p:nvPr/>
        </p:nvSpPr>
        <p:spPr>
          <a:xfrm>
            <a:off x="342900" y="2643188"/>
            <a:ext cx="400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Análise de distribuição entre exchanges e otimização automática de fundos</a:t>
            </a:r>
            <a:endParaRPr lang="en-US" sz="1046" dirty="0"/>
          </a:p>
        </p:txBody>
      </p:sp>
      <p:sp>
        <p:nvSpPr>
          <p:cNvPr id="13" name="Shape 8"/>
          <p:cNvSpPr/>
          <p:nvPr/>
        </p:nvSpPr>
        <p:spPr>
          <a:xfrm>
            <a:off x="228600" y="3300413"/>
            <a:ext cx="4229100" cy="9286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3436144"/>
            <a:ext cx="171450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71500" y="3414713"/>
            <a:ext cx="163293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Consolidação de Lucros</a:t>
            </a:r>
            <a:endParaRPr lang="en-US" sz="1046" dirty="0"/>
          </a:p>
        </p:txBody>
      </p:sp>
      <p:sp>
        <p:nvSpPr>
          <p:cNvPr id="16" name="Text 10"/>
          <p:cNvSpPr/>
          <p:nvPr/>
        </p:nvSpPr>
        <p:spPr>
          <a:xfrm>
            <a:off x="342900" y="3686175"/>
            <a:ext cx="400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Retorno automático de lucros para o FDR com gestão de endereços de destino</a:t>
            </a:r>
            <a:endParaRPr lang="en-US" sz="1046" dirty="0"/>
          </a:p>
        </p:txBody>
      </p:sp>
      <p:sp>
        <p:nvSpPr>
          <p:cNvPr id="17" name="Shape 11"/>
          <p:cNvSpPr/>
          <p:nvPr/>
        </p:nvSpPr>
        <p:spPr>
          <a:xfrm>
            <a:off x="228600" y="4400550"/>
            <a:ext cx="4229100" cy="92868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8" name="Text 12"/>
          <p:cNvSpPr/>
          <p:nvPr/>
        </p:nvSpPr>
        <p:spPr>
          <a:xfrm>
            <a:off x="342900" y="4514850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Limites Operacionais</a:t>
            </a:r>
            <a:endParaRPr lang="en-US" sz="1046" dirty="0"/>
          </a:p>
        </p:txBody>
      </p:sp>
      <p:sp>
        <p:nvSpPr>
          <p:cNvPr id="19" name="Text 13"/>
          <p:cNvSpPr/>
          <p:nvPr/>
        </p:nvSpPr>
        <p:spPr>
          <a:xfrm>
            <a:off x="342900" y="4786313"/>
            <a:ext cx="19431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Máximo por Trade:</a:t>
            </a:r>
            <a:endParaRPr lang="en-US" sz="1046" dirty="0"/>
          </a:p>
        </p:txBody>
      </p:sp>
      <p:sp>
        <p:nvSpPr>
          <p:cNvPr id="20" name="Text 14"/>
          <p:cNvSpPr/>
          <p:nvPr/>
        </p:nvSpPr>
        <p:spPr>
          <a:xfrm>
            <a:off x="342900" y="5000625"/>
            <a:ext cx="19431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10.000 USDT</a:t>
            </a:r>
            <a:endParaRPr lang="en-US" sz="1046" dirty="0"/>
          </a:p>
        </p:txBody>
      </p:sp>
      <p:sp>
        <p:nvSpPr>
          <p:cNvPr id="21" name="Text 15"/>
          <p:cNvSpPr/>
          <p:nvPr/>
        </p:nvSpPr>
        <p:spPr>
          <a:xfrm>
            <a:off x="2400300" y="4786313"/>
            <a:ext cx="19431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Stop Loss Diário:</a:t>
            </a:r>
            <a:endParaRPr lang="en-US" sz="1046" dirty="0"/>
          </a:p>
        </p:txBody>
      </p:sp>
      <p:sp>
        <p:nvSpPr>
          <p:cNvPr id="22" name="Text 16"/>
          <p:cNvSpPr/>
          <p:nvPr/>
        </p:nvSpPr>
        <p:spPr>
          <a:xfrm>
            <a:off x="2400300" y="5000625"/>
            <a:ext cx="19431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DC26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5.000 USDT</a:t>
            </a:r>
            <a:endParaRPr lang="en-US" sz="1046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785813"/>
            <a:ext cx="4229100" cy="200025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686300" y="2957513"/>
            <a:ext cx="4229100" cy="27717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18"/>
          <p:cNvSpPr/>
          <p:nvPr/>
        </p:nvSpPr>
        <p:spPr>
          <a:xfrm>
            <a:off x="4800600" y="3071813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Fluxo de Fundos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6343650" y="3443288"/>
            <a:ext cx="914400" cy="7143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5" y="3529013"/>
            <a:ext cx="171450" cy="1714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29375" y="3757613"/>
            <a:ext cx="742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FDR</a:t>
            </a:r>
            <a:endParaRPr lang="en-US" sz="837" dirty="0"/>
          </a:p>
        </p:txBody>
      </p:sp>
      <p:sp>
        <p:nvSpPr>
          <p:cNvPr id="29" name="Text 21"/>
          <p:cNvSpPr/>
          <p:nvPr/>
        </p:nvSpPr>
        <p:spPr>
          <a:xfrm>
            <a:off x="6429375" y="3929063"/>
            <a:ext cx="7429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Hub Central</a:t>
            </a:r>
            <a:endParaRPr lang="en-US" sz="732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7272" y="4271963"/>
            <a:ext cx="107156" cy="142875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4800600" y="4471988"/>
            <a:ext cx="914400" cy="571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2075" y="4557713"/>
            <a:ext cx="171450" cy="17145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886325" y="4786313"/>
            <a:ext cx="742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Binance</a:t>
            </a:r>
            <a:endParaRPr lang="en-US" sz="837" dirty="0"/>
          </a:p>
        </p:txBody>
      </p:sp>
      <p:sp>
        <p:nvSpPr>
          <p:cNvPr id="34" name="Shape 24"/>
          <p:cNvSpPr/>
          <p:nvPr/>
        </p:nvSpPr>
        <p:spPr>
          <a:xfrm>
            <a:off x="5829300" y="4471988"/>
            <a:ext cx="914400" cy="571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0775" y="4557713"/>
            <a:ext cx="171450" cy="17145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915025" y="4786313"/>
            <a:ext cx="742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Bittrex</a:t>
            </a:r>
            <a:endParaRPr lang="en-US" sz="837" dirty="0"/>
          </a:p>
        </p:txBody>
      </p:sp>
      <p:sp>
        <p:nvSpPr>
          <p:cNvPr id="37" name="Shape 26"/>
          <p:cNvSpPr/>
          <p:nvPr/>
        </p:nvSpPr>
        <p:spPr>
          <a:xfrm>
            <a:off x="6858000" y="4471988"/>
            <a:ext cx="914400" cy="571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9475" y="4557713"/>
            <a:ext cx="171450" cy="17145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943725" y="4786313"/>
            <a:ext cx="742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Mercado BTC</a:t>
            </a:r>
            <a:endParaRPr lang="en-US" sz="837" dirty="0"/>
          </a:p>
        </p:txBody>
      </p:sp>
      <p:sp>
        <p:nvSpPr>
          <p:cNvPr id="40" name="Shape 28"/>
          <p:cNvSpPr/>
          <p:nvPr/>
        </p:nvSpPr>
        <p:spPr>
          <a:xfrm>
            <a:off x="7886700" y="4471988"/>
            <a:ext cx="914400" cy="571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8175" y="4557713"/>
            <a:ext cx="171450" cy="17145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7972425" y="4786313"/>
            <a:ext cx="742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Foxbit</a:t>
            </a:r>
            <a:endParaRPr lang="en-US" sz="837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9413" y="5100638"/>
            <a:ext cx="142875" cy="142875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4800600" y="5300663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Operações de Arbitragem</a:t>
            </a:r>
            <a:endParaRPr lang="en-US" sz="837" dirty="0"/>
          </a:p>
        </p:txBody>
      </p:sp>
      <p:sp>
        <p:nvSpPr>
          <p:cNvPr id="45" name="Text 31"/>
          <p:cNvSpPr/>
          <p:nvPr/>
        </p:nvSpPr>
        <p:spPr>
          <a:xfrm>
            <a:off x="4800600" y="5472113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BTC/BRL e BTC/USDT</a:t>
            </a:r>
            <a:endParaRPr lang="en-US" sz="73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293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Testes e Validação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28600" y="785813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Resultados dos Testes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28600" y="1214438"/>
            <a:ext cx="4229100" cy="2343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342900" y="1328738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Testes de API</a:t>
            </a:r>
            <a:endParaRPr lang="en-US" sz="1046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657350"/>
            <a:ext cx="4000500" cy="178593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28600" y="3729038"/>
            <a:ext cx="2057400" cy="13430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3864769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71500" y="3843338"/>
            <a:ext cx="73396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Segurança</a:t>
            </a:r>
            <a:endParaRPr lang="en-US" sz="1046" dirty="0"/>
          </a:p>
        </p:txBody>
      </p:sp>
      <p:sp>
        <p:nvSpPr>
          <p:cNvPr id="11" name="Text 6"/>
          <p:cNvSpPr/>
          <p:nvPr/>
        </p:nvSpPr>
        <p:spPr>
          <a:xfrm>
            <a:off x="342900" y="4114800"/>
            <a:ext cx="18288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4/4 testes passaram</a:t>
            </a:r>
            <a:endParaRPr lang="en-US" sz="1046" dirty="0"/>
          </a:p>
        </p:txBody>
      </p:sp>
      <p:sp>
        <p:nvSpPr>
          <p:cNvPr id="12" name="Text 7"/>
          <p:cNvSpPr/>
          <p:nvPr/>
        </p:nvSpPr>
        <p:spPr>
          <a:xfrm>
            <a:off x="342900" y="4386263"/>
            <a:ext cx="1828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Criptografia</a:t>
            </a:r>
            <a:endParaRPr lang="en-US" sz="732" dirty="0"/>
          </a:p>
        </p:txBody>
      </p:sp>
      <p:sp>
        <p:nvSpPr>
          <p:cNvPr id="13" name="Text 8"/>
          <p:cNvSpPr/>
          <p:nvPr/>
        </p:nvSpPr>
        <p:spPr>
          <a:xfrm>
            <a:off x="342900" y="4529138"/>
            <a:ext cx="1828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Descriptografia</a:t>
            </a:r>
            <a:endParaRPr lang="en-US" sz="732" dirty="0"/>
          </a:p>
        </p:txBody>
      </p:sp>
      <p:sp>
        <p:nvSpPr>
          <p:cNvPr id="14" name="Text 9"/>
          <p:cNvSpPr/>
          <p:nvPr/>
        </p:nvSpPr>
        <p:spPr>
          <a:xfrm>
            <a:off x="342900" y="4672013"/>
            <a:ext cx="1828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Integridade</a:t>
            </a:r>
            <a:endParaRPr lang="en-US" sz="732" dirty="0"/>
          </a:p>
        </p:txBody>
      </p:sp>
      <p:sp>
        <p:nvSpPr>
          <p:cNvPr id="15" name="Text 10"/>
          <p:cNvSpPr/>
          <p:nvPr/>
        </p:nvSpPr>
        <p:spPr>
          <a:xfrm>
            <a:off x="342900" y="4814888"/>
            <a:ext cx="1828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Verificação</a:t>
            </a:r>
            <a:endParaRPr lang="en-US" sz="732" dirty="0"/>
          </a:p>
        </p:txBody>
      </p:sp>
      <p:sp>
        <p:nvSpPr>
          <p:cNvPr id="16" name="Shape 11"/>
          <p:cNvSpPr/>
          <p:nvPr/>
        </p:nvSpPr>
        <p:spPr>
          <a:xfrm>
            <a:off x="2400300" y="3729038"/>
            <a:ext cx="2057400" cy="13430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3864769"/>
            <a:ext cx="171450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743200" y="3843338"/>
            <a:ext cx="76226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</a:t>
            </a:r>
            <a:endParaRPr lang="en-US" sz="1046" dirty="0"/>
          </a:p>
        </p:txBody>
      </p:sp>
      <p:sp>
        <p:nvSpPr>
          <p:cNvPr id="19" name="Text 13"/>
          <p:cNvSpPr/>
          <p:nvPr/>
        </p:nvSpPr>
        <p:spPr>
          <a:xfrm>
            <a:off x="2514600" y="4114800"/>
            <a:ext cx="18288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4/4 testes passaram</a:t>
            </a:r>
            <a:endParaRPr lang="en-US" sz="1046" dirty="0"/>
          </a:p>
        </p:txBody>
      </p:sp>
      <p:sp>
        <p:nvSpPr>
          <p:cNvPr id="20" name="Text 14"/>
          <p:cNvSpPr/>
          <p:nvPr/>
        </p:nvSpPr>
        <p:spPr>
          <a:xfrm>
            <a:off x="2514600" y="4386263"/>
            <a:ext cx="1828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Inicialização</a:t>
            </a:r>
            <a:endParaRPr lang="en-US" sz="732" dirty="0"/>
          </a:p>
        </p:txBody>
      </p:sp>
      <p:sp>
        <p:nvSpPr>
          <p:cNvPr id="21" name="Text 15"/>
          <p:cNvSpPr/>
          <p:nvPr/>
        </p:nvSpPr>
        <p:spPr>
          <a:xfrm>
            <a:off x="2514600" y="4529138"/>
            <a:ext cx="1828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Carregamento</a:t>
            </a:r>
            <a:endParaRPr lang="en-US" sz="732" dirty="0"/>
          </a:p>
        </p:txBody>
      </p:sp>
      <p:sp>
        <p:nvSpPr>
          <p:cNvPr id="22" name="Text 16"/>
          <p:cNvSpPr/>
          <p:nvPr/>
        </p:nvSpPr>
        <p:spPr>
          <a:xfrm>
            <a:off x="2514600" y="4672013"/>
            <a:ext cx="1828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Consultas</a:t>
            </a:r>
            <a:endParaRPr lang="en-US" sz="732" dirty="0"/>
          </a:p>
        </p:txBody>
      </p:sp>
      <p:sp>
        <p:nvSpPr>
          <p:cNvPr id="23" name="Text 17"/>
          <p:cNvSpPr/>
          <p:nvPr/>
        </p:nvSpPr>
        <p:spPr>
          <a:xfrm>
            <a:off x="2514600" y="4814888"/>
            <a:ext cx="18288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Transações</a:t>
            </a:r>
            <a:endParaRPr lang="en-US" sz="732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6929" y="971550"/>
            <a:ext cx="3807814" cy="2143125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686300" y="3286125"/>
            <a:ext cx="4229100" cy="16002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6" name="Text 19"/>
          <p:cNvSpPr/>
          <p:nvPr/>
        </p:nvSpPr>
        <p:spPr>
          <a:xfrm>
            <a:off x="4800600" y="3400425"/>
            <a:ext cx="400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Validação de Componentes</a:t>
            </a:r>
            <a:endParaRPr lang="en-US" sz="837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714750"/>
            <a:ext cx="114300" cy="1143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72050" y="3686175"/>
            <a:ext cx="12328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FDR Security Manager</a:t>
            </a:r>
            <a:endParaRPr lang="en-US" sz="837" dirty="0"/>
          </a:p>
        </p:txBody>
      </p:sp>
      <p:sp>
        <p:nvSpPr>
          <p:cNvPr id="29" name="Shape 21"/>
          <p:cNvSpPr/>
          <p:nvPr/>
        </p:nvSpPr>
        <p:spPr>
          <a:xfrm>
            <a:off x="4800600" y="3914775"/>
            <a:ext cx="1943100" cy="257175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0" name="Text 22"/>
          <p:cNvSpPr/>
          <p:nvPr/>
        </p:nvSpPr>
        <p:spPr>
          <a:xfrm>
            <a:off x="4800600" y="3914775"/>
            <a:ext cx="1943100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Validado em ambiente de teste </a:t>
            </a:r>
            <a:endParaRPr lang="en-US" sz="732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3714750"/>
            <a:ext cx="114300" cy="1143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029450" y="3686175"/>
            <a:ext cx="7512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FDR Manager</a:t>
            </a:r>
            <a:endParaRPr lang="en-US" sz="837" dirty="0"/>
          </a:p>
        </p:txBody>
      </p:sp>
      <p:sp>
        <p:nvSpPr>
          <p:cNvPr id="33" name="Shape 24"/>
          <p:cNvSpPr/>
          <p:nvPr/>
        </p:nvSpPr>
        <p:spPr>
          <a:xfrm>
            <a:off x="6858000" y="3914775"/>
            <a:ext cx="1943100" cy="257175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4" name="Text 25"/>
          <p:cNvSpPr/>
          <p:nvPr/>
        </p:nvSpPr>
        <p:spPr>
          <a:xfrm>
            <a:off x="6858000" y="3914775"/>
            <a:ext cx="1943100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Validado em ambiente de teste </a:t>
            </a:r>
            <a:endParaRPr lang="en-US" sz="732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4314825"/>
            <a:ext cx="114300" cy="11430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972050" y="4286250"/>
            <a:ext cx="13957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FDR Backend Integration</a:t>
            </a:r>
            <a:endParaRPr lang="en-US" sz="837" dirty="0"/>
          </a:p>
        </p:txBody>
      </p:sp>
      <p:sp>
        <p:nvSpPr>
          <p:cNvPr id="37" name="Shape 27"/>
          <p:cNvSpPr/>
          <p:nvPr/>
        </p:nvSpPr>
        <p:spPr>
          <a:xfrm>
            <a:off x="4800600" y="4514850"/>
            <a:ext cx="1943100" cy="257175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8" name="Text 28"/>
          <p:cNvSpPr/>
          <p:nvPr/>
        </p:nvSpPr>
        <p:spPr>
          <a:xfrm>
            <a:off x="4800600" y="4514850"/>
            <a:ext cx="1943100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Validado em ambiente de teste </a:t>
            </a:r>
            <a:endParaRPr lang="en-US" sz="732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4314825"/>
            <a:ext cx="114300" cy="11430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029450" y="4286250"/>
            <a:ext cx="7342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FDR API REST</a:t>
            </a:r>
            <a:endParaRPr lang="en-US" sz="837" dirty="0"/>
          </a:p>
        </p:txBody>
      </p:sp>
      <p:sp>
        <p:nvSpPr>
          <p:cNvPr id="41" name="Shape 30"/>
          <p:cNvSpPr/>
          <p:nvPr/>
        </p:nvSpPr>
        <p:spPr>
          <a:xfrm>
            <a:off x="6858000" y="4514850"/>
            <a:ext cx="1943100" cy="257175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2" name="Text 31"/>
          <p:cNvSpPr/>
          <p:nvPr/>
        </p:nvSpPr>
        <p:spPr>
          <a:xfrm>
            <a:off x="6858000" y="4514850"/>
            <a:ext cx="1943100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Validado em ambiente de teste </a:t>
            </a:r>
            <a:endParaRPr lang="en-US" sz="732" dirty="0"/>
          </a:p>
        </p:txBody>
      </p:sp>
      <p:sp>
        <p:nvSpPr>
          <p:cNvPr id="43" name="Shape 32"/>
          <p:cNvSpPr/>
          <p:nvPr/>
        </p:nvSpPr>
        <p:spPr>
          <a:xfrm>
            <a:off x="228600" y="5243513"/>
            <a:ext cx="8686800" cy="657225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4" name="Text 33"/>
          <p:cNvSpPr/>
          <p:nvPr/>
        </p:nvSpPr>
        <p:spPr>
          <a:xfrm>
            <a:off x="342900" y="5357813"/>
            <a:ext cx="8458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Resultado Final</a:t>
            </a:r>
            <a:endParaRPr lang="en-US" sz="837" dirty="0"/>
          </a:p>
        </p:txBody>
      </p:sp>
      <p:sp>
        <p:nvSpPr>
          <p:cNvPr id="45" name="Text 34"/>
          <p:cNvSpPr/>
          <p:nvPr/>
        </p:nvSpPr>
        <p:spPr>
          <a:xfrm>
            <a:off x="2450055" y="5588198"/>
            <a:ext cx="21576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✅ </a:t>
            </a:r>
            <a:endParaRPr lang="en-US" sz="1046" dirty="0"/>
          </a:p>
        </p:txBody>
      </p:sp>
      <p:sp>
        <p:nvSpPr>
          <p:cNvPr id="46" name="Text 35"/>
          <p:cNvSpPr/>
          <p:nvPr/>
        </p:nvSpPr>
        <p:spPr>
          <a:xfrm>
            <a:off x="2665819" y="5588198"/>
            <a:ext cx="186382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 dos testes passaram</a:t>
            </a:r>
            <a:endParaRPr lang="en-US" sz="1046" dirty="0"/>
          </a:p>
        </p:txBody>
      </p:sp>
      <p:sp>
        <p:nvSpPr>
          <p:cNvPr id="47" name="Text 36"/>
          <p:cNvSpPr/>
          <p:nvPr/>
        </p:nvSpPr>
        <p:spPr>
          <a:xfrm>
            <a:off x="4529640" y="5588198"/>
            <a:ext cx="216427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Sistema pronto para produção</a:t>
            </a:r>
            <a:endParaRPr lang="en-US" sz="1046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329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Próximos Passos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28600" y="728663"/>
            <a:ext cx="4257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Plano de Implementação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28600" y="1100138"/>
            <a:ext cx="4257675" cy="8322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314325" y="1185863"/>
            <a:ext cx="200025" cy="200025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7" name="Text 4"/>
          <p:cNvSpPr/>
          <p:nvPr/>
        </p:nvSpPr>
        <p:spPr>
          <a:xfrm>
            <a:off x="314325" y="118586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600075" y="1185863"/>
            <a:ext cx="38004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ao Dashboard Principal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600075" y="1409105"/>
            <a:ext cx="16855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Adicionar o componente 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2285581" y="1443038"/>
            <a:ext cx="111462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FdrWallet.tsx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3400202" y="1409105"/>
            <a:ext cx="96412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ao dashboard 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600075" y="1641277"/>
            <a:ext cx="36977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React</a:t>
            </a:r>
            <a:endParaRPr lang="en-US" sz="1046" dirty="0"/>
          </a:p>
        </p:txBody>
      </p:sp>
      <p:sp>
        <p:nvSpPr>
          <p:cNvPr id="13" name="Shape 10"/>
          <p:cNvSpPr/>
          <p:nvPr/>
        </p:nvSpPr>
        <p:spPr>
          <a:xfrm>
            <a:off x="228600" y="2018109"/>
            <a:ext cx="4257675" cy="6000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314325" y="2103834"/>
            <a:ext cx="200025" cy="200025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5" name="Text 12"/>
          <p:cNvSpPr/>
          <p:nvPr/>
        </p:nvSpPr>
        <p:spPr>
          <a:xfrm>
            <a:off x="314325" y="210383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600075" y="2103834"/>
            <a:ext cx="31646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Transferência de Fundos Reais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600075" y="2318147"/>
            <a:ext cx="31646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Transferir os 2000 BTC para as carteiras do FDR</a:t>
            </a:r>
            <a:endParaRPr lang="en-US" sz="1046" dirty="0"/>
          </a:p>
        </p:txBody>
      </p:sp>
      <p:sp>
        <p:nvSpPr>
          <p:cNvPr id="18" name="Shape 15"/>
          <p:cNvSpPr/>
          <p:nvPr/>
        </p:nvSpPr>
        <p:spPr>
          <a:xfrm>
            <a:off x="228600" y="2703909"/>
            <a:ext cx="4257675" cy="6000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314325" y="2789634"/>
            <a:ext cx="200025" cy="200025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20" name="Text 17"/>
          <p:cNvSpPr/>
          <p:nvPr/>
        </p:nvSpPr>
        <p:spPr>
          <a:xfrm>
            <a:off x="314325" y="278963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600075" y="2789634"/>
            <a:ext cx="343843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com o Bot de Arbitragem</a:t>
            </a:r>
            <a:endParaRPr lang="en-US" sz="1046" dirty="0"/>
          </a:p>
        </p:txBody>
      </p:sp>
      <p:sp>
        <p:nvSpPr>
          <p:cNvPr id="22" name="Text 19"/>
          <p:cNvSpPr/>
          <p:nvPr/>
        </p:nvSpPr>
        <p:spPr>
          <a:xfrm>
            <a:off x="600075" y="3003947"/>
            <a:ext cx="343843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Conectar o FDR ao sistema de arbitragem existente</a:t>
            </a:r>
            <a:endParaRPr lang="en-US" sz="1046" dirty="0"/>
          </a:p>
        </p:txBody>
      </p:sp>
      <p:sp>
        <p:nvSpPr>
          <p:cNvPr id="23" name="Shape 20"/>
          <p:cNvSpPr/>
          <p:nvPr/>
        </p:nvSpPr>
        <p:spPr>
          <a:xfrm>
            <a:off x="228600" y="3389709"/>
            <a:ext cx="4257675" cy="6000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314325" y="3475434"/>
            <a:ext cx="200025" cy="200025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25" name="Text 22"/>
          <p:cNvSpPr/>
          <p:nvPr/>
        </p:nvSpPr>
        <p:spPr>
          <a:xfrm>
            <a:off x="314325" y="347543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046" dirty="0"/>
          </a:p>
        </p:txBody>
      </p:sp>
      <p:sp>
        <p:nvSpPr>
          <p:cNvPr id="26" name="Text 23"/>
          <p:cNvSpPr/>
          <p:nvPr/>
        </p:nvSpPr>
        <p:spPr>
          <a:xfrm>
            <a:off x="600075" y="3475434"/>
            <a:ext cx="33182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Monitoramento e Alertas</a:t>
            </a:r>
            <a:endParaRPr lang="en-US" sz="1046" dirty="0"/>
          </a:p>
        </p:txBody>
      </p:sp>
      <p:sp>
        <p:nvSpPr>
          <p:cNvPr id="27" name="Text 24"/>
          <p:cNvSpPr/>
          <p:nvPr/>
        </p:nvSpPr>
        <p:spPr>
          <a:xfrm>
            <a:off x="600075" y="3689747"/>
            <a:ext cx="33182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Implementar alertas para operações de alto valor</a:t>
            </a:r>
            <a:endParaRPr lang="en-US" sz="1046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278" y="728663"/>
            <a:ext cx="3176541" cy="178593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4657725" y="2514600"/>
            <a:ext cx="4257675" cy="2514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6"/>
          <p:cNvSpPr/>
          <p:nvPr/>
        </p:nvSpPr>
        <p:spPr>
          <a:xfrm>
            <a:off x="4743450" y="2600325"/>
            <a:ext cx="40862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Cronograma</a:t>
            </a:r>
            <a:endParaRPr lang="en-US" sz="1350" dirty="0"/>
          </a:p>
        </p:txBody>
      </p:sp>
      <p:sp>
        <p:nvSpPr>
          <p:cNvPr id="31" name="Shape 27"/>
          <p:cNvSpPr/>
          <p:nvPr/>
        </p:nvSpPr>
        <p:spPr>
          <a:xfrm>
            <a:off x="4743450" y="3100388"/>
            <a:ext cx="85725" cy="85725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32" name="Shape 28"/>
          <p:cNvSpPr/>
          <p:nvPr/>
        </p:nvSpPr>
        <p:spPr>
          <a:xfrm>
            <a:off x="4914900" y="2914650"/>
            <a:ext cx="391477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29"/>
          <p:cNvSpPr/>
          <p:nvPr/>
        </p:nvSpPr>
        <p:spPr>
          <a:xfrm>
            <a:off x="5000625" y="2971800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Semana 1</a:t>
            </a:r>
            <a:endParaRPr lang="en-US" sz="837" dirty="0"/>
          </a:p>
        </p:txBody>
      </p:sp>
      <p:sp>
        <p:nvSpPr>
          <p:cNvPr id="34" name="Text 30"/>
          <p:cNvSpPr/>
          <p:nvPr/>
        </p:nvSpPr>
        <p:spPr>
          <a:xfrm>
            <a:off x="5000625" y="3143250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ao dashboard</a:t>
            </a:r>
            <a:endParaRPr lang="en-US" sz="837" dirty="0"/>
          </a:p>
        </p:txBody>
      </p:sp>
      <p:sp>
        <p:nvSpPr>
          <p:cNvPr id="35" name="Shape 31"/>
          <p:cNvSpPr/>
          <p:nvPr/>
        </p:nvSpPr>
        <p:spPr>
          <a:xfrm>
            <a:off x="4743450" y="3643313"/>
            <a:ext cx="85725" cy="85725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36" name="Shape 32"/>
          <p:cNvSpPr/>
          <p:nvPr/>
        </p:nvSpPr>
        <p:spPr>
          <a:xfrm>
            <a:off x="4914900" y="3457575"/>
            <a:ext cx="391477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3"/>
          <p:cNvSpPr/>
          <p:nvPr/>
        </p:nvSpPr>
        <p:spPr>
          <a:xfrm>
            <a:off x="5000625" y="3514725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Semana 2</a:t>
            </a:r>
            <a:endParaRPr lang="en-US" sz="837" dirty="0"/>
          </a:p>
        </p:txBody>
      </p:sp>
      <p:sp>
        <p:nvSpPr>
          <p:cNvPr id="38" name="Text 34"/>
          <p:cNvSpPr/>
          <p:nvPr/>
        </p:nvSpPr>
        <p:spPr>
          <a:xfrm>
            <a:off x="5000625" y="3686175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Transferência de fundos</a:t>
            </a:r>
            <a:endParaRPr lang="en-US" sz="837" dirty="0"/>
          </a:p>
        </p:txBody>
      </p:sp>
      <p:sp>
        <p:nvSpPr>
          <p:cNvPr id="39" name="Shape 35"/>
          <p:cNvSpPr/>
          <p:nvPr/>
        </p:nvSpPr>
        <p:spPr>
          <a:xfrm>
            <a:off x="4743450" y="4157663"/>
            <a:ext cx="85725" cy="85725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40" name="Shape 36"/>
          <p:cNvSpPr/>
          <p:nvPr/>
        </p:nvSpPr>
        <p:spPr>
          <a:xfrm>
            <a:off x="4914900" y="3971925"/>
            <a:ext cx="391477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7"/>
          <p:cNvSpPr/>
          <p:nvPr/>
        </p:nvSpPr>
        <p:spPr>
          <a:xfrm>
            <a:off x="5000625" y="4029075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Semana 3</a:t>
            </a:r>
            <a:endParaRPr lang="en-US" sz="837" dirty="0"/>
          </a:p>
        </p:txBody>
      </p:sp>
      <p:sp>
        <p:nvSpPr>
          <p:cNvPr id="42" name="Text 38"/>
          <p:cNvSpPr/>
          <p:nvPr/>
        </p:nvSpPr>
        <p:spPr>
          <a:xfrm>
            <a:off x="5000625" y="4200525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com bot de arbitragem</a:t>
            </a:r>
            <a:endParaRPr lang="en-US" sz="837" dirty="0"/>
          </a:p>
        </p:txBody>
      </p:sp>
      <p:sp>
        <p:nvSpPr>
          <p:cNvPr id="43" name="Shape 39"/>
          <p:cNvSpPr/>
          <p:nvPr/>
        </p:nvSpPr>
        <p:spPr>
          <a:xfrm>
            <a:off x="4743450" y="4672013"/>
            <a:ext cx="85725" cy="85725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44" name="Shape 40"/>
          <p:cNvSpPr/>
          <p:nvPr/>
        </p:nvSpPr>
        <p:spPr>
          <a:xfrm>
            <a:off x="4914900" y="4486275"/>
            <a:ext cx="391477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1"/>
          <p:cNvSpPr/>
          <p:nvPr/>
        </p:nvSpPr>
        <p:spPr>
          <a:xfrm>
            <a:off x="5000625" y="4543425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Semana 4</a:t>
            </a:r>
            <a:endParaRPr lang="en-US" sz="837" dirty="0"/>
          </a:p>
        </p:txBody>
      </p:sp>
      <p:sp>
        <p:nvSpPr>
          <p:cNvPr id="46" name="Text 42"/>
          <p:cNvSpPr/>
          <p:nvPr/>
        </p:nvSpPr>
        <p:spPr>
          <a:xfrm>
            <a:off x="5000625" y="4714875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Monitoramento e operação plena</a:t>
            </a:r>
            <a:endParaRPr lang="en-US" sz="837" dirty="0"/>
          </a:p>
        </p:txBody>
      </p:sp>
      <p:sp>
        <p:nvSpPr>
          <p:cNvPr id="47" name="Shape 43"/>
          <p:cNvSpPr/>
          <p:nvPr/>
        </p:nvSpPr>
        <p:spPr>
          <a:xfrm>
            <a:off x="228600" y="5143500"/>
            <a:ext cx="8686800" cy="86082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8" name="Text 44"/>
          <p:cNvSpPr/>
          <p:nvPr/>
        </p:nvSpPr>
        <p:spPr>
          <a:xfrm>
            <a:off x="314325" y="5229225"/>
            <a:ext cx="85153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Métricas de Sucesso</a:t>
            </a:r>
            <a:endParaRPr lang="en-US" sz="837" dirty="0"/>
          </a:p>
        </p:txBody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003" y="5432822"/>
            <a:ext cx="142875" cy="142875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314325" y="5604272"/>
            <a:ext cx="27622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Tempo de Rebalanceamento</a:t>
            </a:r>
            <a:endParaRPr lang="en-US" sz="837" dirty="0"/>
          </a:p>
        </p:txBody>
      </p:sp>
      <p:sp>
        <p:nvSpPr>
          <p:cNvPr id="51" name="Text 46"/>
          <p:cNvSpPr/>
          <p:nvPr/>
        </p:nvSpPr>
        <p:spPr>
          <a:xfrm>
            <a:off x="314325" y="5775722"/>
            <a:ext cx="276223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Meta: &lt; 30 minutos</a:t>
            </a:r>
            <a:endParaRPr lang="en-US" sz="732" dirty="0"/>
          </a:p>
        </p:txBody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35" y="5432822"/>
            <a:ext cx="142875" cy="142875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3190856" y="5604272"/>
            <a:ext cx="27622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Segurança de Fundos</a:t>
            </a:r>
            <a:endParaRPr lang="en-US" sz="837" dirty="0"/>
          </a:p>
        </p:txBody>
      </p:sp>
      <p:sp>
        <p:nvSpPr>
          <p:cNvPr id="54" name="Text 48"/>
          <p:cNvSpPr/>
          <p:nvPr/>
        </p:nvSpPr>
        <p:spPr>
          <a:xfrm>
            <a:off x="3190856" y="5775722"/>
            <a:ext cx="276225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Meta: 100% integridade</a:t>
            </a:r>
            <a:endParaRPr lang="en-US" sz="732" dirty="0"/>
          </a:p>
        </p:txBody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7094" y="5432822"/>
            <a:ext cx="142875" cy="142875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6067416" y="5604272"/>
            <a:ext cx="27622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Oportunidades Capturadas</a:t>
            </a:r>
            <a:endParaRPr lang="en-US" sz="837" dirty="0"/>
          </a:p>
        </p:txBody>
      </p:sp>
      <p:sp>
        <p:nvSpPr>
          <p:cNvPr id="57" name="Text 50"/>
          <p:cNvSpPr/>
          <p:nvPr/>
        </p:nvSpPr>
        <p:spPr>
          <a:xfrm>
            <a:off x="6067416" y="5775722"/>
            <a:ext cx="276223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Meta: &gt; 95%</a:t>
            </a:r>
            <a:endParaRPr lang="en-US" sz="73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Plano de Contingência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28600" y="728663"/>
            <a:ext cx="4257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Estratégias de Mitigação de Riscos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28600" y="1100138"/>
            <a:ext cx="2085975" cy="7000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1207294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2925" y="1185863"/>
            <a:ext cx="164250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Recuperação de Chaves</a:t>
            </a:r>
            <a:endParaRPr lang="en-US" sz="1046" dirty="0"/>
          </a:p>
        </p:txBody>
      </p:sp>
      <p:sp>
        <p:nvSpPr>
          <p:cNvPr id="8" name="Text 4"/>
          <p:cNvSpPr/>
          <p:nvPr/>
        </p:nvSpPr>
        <p:spPr>
          <a:xfrm>
            <a:off x="314325" y="1428750"/>
            <a:ext cx="19145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Sistema de backup seguro para recuperação de chaves privadas</a:t>
            </a:r>
            <a:endParaRPr lang="en-US" sz="732" dirty="0"/>
          </a:p>
        </p:txBody>
      </p:sp>
      <p:sp>
        <p:nvSpPr>
          <p:cNvPr id="9" name="Shape 5"/>
          <p:cNvSpPr/>
          <p:nvPr/>
        </p:nvSpPr>
        <p:spPr>
          <a:xfrm>
            <a:off x="2400300" y="1100138"/>
            <a:ext cx="2085975" cy="7000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025" y="1207294"/>
            <a:ext cx="214313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57488" y="1185863"/>
            <a:ext cx="9099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Redundância</a:t>
            </a:r>
            <a:endParaRPr lang="en-US" sz="1046" dirty="0"/>
          </a:p>
        </p:txBody>
      </p:sp>
      <p:sp>
        <p:nvSpPr>
          <p:cNvPr id="12" name="Text 7"/>
          <p:cNvSpPr/>
          <p:nvPr/>
        </p:nvSpPr>
        <p:spPr>
          <a:xfrm>
            <a:off x="2486025" y="1428750"/>
            <a:ext cx="19145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Múltiplas instâncias do serviço em diferentes regiões</a:t>
            </a:r>
            <a:endParaRPr lang="en-US" sz="732" dirty="0"/>
          </a:p>
        </p:txBody>
      </p:sp>
      <p:sp>
        <p:nvSpPr>
          <p:cNvPr id="13" name="Shape 8"/>
          <p:cNvSpPr/>
          <p:nvPr/>
        </p:nvSpPr>
        <p:spPr>
          <a:xfrm>
            <a:off x="228600" y="1885950"/>
            <a:ext cx="2085975" cy="7000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5" y="1993106"/>
            <a:ext cx="171450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2925" y="1971675"/>
            <a:ext cx="11125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Circuit Breakers</a:t>
            </a:r>
            <a:endParaRPr lang="en-US" sz="1046" dirty="0"/>
          </a:p>
        </p:txBody>
      </p:sp>
      <p:sp>
        <p:nvSpPr>
          <p:cNvPr id="16" name="Text 10"/>
          <p:cNvSpPr/>
          <p:nvPr/>
        </p:nvSpPr>
        <p:spPr>
          <a:xfrm>
            <a:off x="314325" y="2214563"/>
            <a:ext cx="19145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Mecanismos para interromper operações anômalas</a:t>
            </a:r>
            <a:endParaRPr lang="en-US" sz="732" dirty="0"/>
          </a:p>
        </p:txBody>
      </p:sp>
      <p:sp>
        <p:nvSpPr>
          <p:cNvPr id="17" name="Shape 11"/>
          <p:cNvSpPr/>
          <p:nvPr/>
        </p:nvSpPr>
        <p:spPr>
          <a:xfrm>
            <a:off x="2400300" y="1885950"/>
            <a:ext cx="2085975" cy="7000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6025" y="1993106"/>
            <a:ext cx="171450" cy="1714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714625" y="1971675"/>
            <a:ext cx="7212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Snapshots</a:t>
            </a:r>
            <a:endParaRPr lang="en-US" sz="1046" dirty="0"/>
          </a:p>
        </p:txBody>
      </p:sp>
      <p:sp>
        <p:nvSpPr>
          <p:cNvPr id="20" name="Text 13"/>
          <p:cNvSpPr/>
          <p:nvPr/>
        </p:nvSpPr>
        <p:spPr>
          <a:xfrm>
            <a:off x="2486025" y="2214563"/>
            <a:ext cx="19145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Backups criptografados a cada 6 horas</a:t>
            </a:r>
            <a:endParaRPr lang="en-US" sz="732" dirty="0"/>
          </a:p>
        </p:txBody>
      </p:sp>
      <p:sp>
        <p:nvSpPr>
          <p:cNvPr id="21" name="Shape 14"/>
          <p:cNvSpPr/>
          <p:nvPr/>
        </p:nvSpPr>
        <p:spPr>
          <a:xfrm>
            <a:off x="228600" y="2700338"/>
            <a:ext cx="4257675" cy="1185863"/>
          </a:xfrm>
          <a:prstGeom prst="rect">
            <a:avLst/>
          </a:prstGeom>
          <a:solidFill>
            <a:srgbClr val="FEE2E2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25" y="2807494"/>
            <a:ext cx="171450" cy="17145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42925" y="2786063"/>
            <a:ext cx="117087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991B1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Cenários Críticos</a:t>
            </a:r>
            <a:endParaRPr lang="en-US" sz="1046" dirty="0"/>
          </a:p>
        </p:txBody>
      </p:sp>
      <p:sp>
        <p:nvSpPr>
          <p:cNvPr id="24" name="Text 16"/>
          <p:cNvSpPr/>
          <p:nvPr/>
        </p:nvSpPr>
        <p:spPr>
          <a:xfrm>
            <a:off x="314325" y="3028950"/>
            <a:ext cx="40862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Comprometimento de Chaves</a:t>
            </a:r>
            <a:endParaRPr lang="en-US" sz="1046" dirty="0"/>
          </a:p>
        </p:txBody>
      </p:sp>
      <p:sp>
        <p:nvSpPr>
          <p:cNvPr id="25" name="Text 17"/>
          <p:cNvSpPr/>
          <p:nvPr/>
        </p:nvSpPr>
        <p:spPr>
          <a:xfrm>
            <a:off x="314325" y="3243263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Ativação do protocolo de revogação e transferência</a:t>
            </a:r>
            <a:endParaRPr lang="en-US" sz="732" dirty="0"/>
          </a:p>
        </p:txBody>
      </p:sp>
      <p:sp>
        <p:nvSpPr>
          <p:cNvPr id="26" name="Text 18"/>
          <p:cNvSpPr/>
          <p:nvPr/>
        </p:nvSpPr>
        <p:spPr>
          <a:xfrm>
            <a:off x="314325" y="3443288"/>
            <a:ext cx="40862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Falha de API Externa</a:t>
            </a:r>
            <a:endParaRPr lang="en-US" sz="1046" dirty="0"/>
          </a:p>
        </p:txBody>
      </p:sp>
      <p:sp>
        <p:nvSpPr>
          <p:cNvPr id="27" name="Text 19"/>
          <p:cNvSpPr/>
          <p:nvPr/>
        </p:nvSpPr>
        <p:spPr>
          <a:xfrm>
            <a:off x="314325" y="3657600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Alternância para provedores secundários</a:t>
            </a:r>
            <a:endParaRPr lang="en-US" sz="732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8278" y="890569"/>
            <a:ext cx="3176541" cy="1785938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4657725" y="2838413"/>
            <a:ext cx="4257675" cy="1914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1"/>
          <p:cNvSpPr/>
          <p:nvPr/>
        </p:nvSpPr>
        <p:spPr>
          <a:xfrm>
            <a:off x="4743450" y="2924138"/>
            <a:ext cx="40862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Protocolo de Emergência</a:t>
            </a:r>
            <a:endParaRPr lang="en-US" sz="13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3450" y="3238463"/>
            <a:ext cx="4086225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5009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Conclusão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28600" y="785813"/>
            <a:ext cx="4229100" cy="252888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2"/>
          <p:cNvSpPr/>
          <p:nvPr/>
        </p:nvSpPr>
        <p:spPr>
          <a:xfrm>
            <a:off x="342900" y="900113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Implementação Bem-Sucedida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42900" y="1280517"/>
            <a:ext cx="305769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Fundo Descentralizado de Reserva (FDR) foi </a:t>
            </a:r>
            <a:endParaRPr lang="en-US" sz="1046" dirty="0"/>
          </a:p>
        </p:txBody>
      </p:sp>
      <p:sp>
        <p:nvSpPr>
          <p:cNvPr id="7" name="Shape 4"/>
          <p:cNvSpPr/>
          <p:nvPr/>
        </p:nvSpPr>
        <p:spPr>
          <a:xfrm>
            <a:off x="342900" y="1485900"/>
            <a:ext cx="1630645" cy="271463"/>
          </a:xfrm>
          <a:prstGeom prst="roundRect">
            <a:avLst/>
          </a:prstGeom>
          <a:solidFill>
            <a:srgbClr val="48BB78"/>
          </a:solidFill>
          <a:ln/>
        </p:spPr>
      </p:sp>
      <p:sp>
        <p:nvSpPr>
          <p:cNvPr id="8" name="Text 5"/>
          <p:cNvSpPr/>
          <p:nvPr/>
        </p:nvSpPr>
        <p:spPr>
          <a:xfrm>
            <a:off x="342900" y="1485900"/>
            <a:ext cx="1630645" cy="271463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 implementado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1973545" y="1523405"/>
            <a:ext cx="235060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está pronto para integração com 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342900" y="1766292"/>
            <a:ext cx="28482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sistema de arbitragem de criptomoedas.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342900" y="2085975"/>
            <a:ext cx="1943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342900" y="2371725"/>
            <a:ext cx="19431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Carteiras Integradas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2400300" y="2085975"/>
            <a:ext cx="1943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2000+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2400300" y="2371725"/>
            <a:ext cx="19431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BTC Capacidade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342900" y="2700338"/>
            <a:ext cx="1943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8/8</a:t>
            </a:r>
            <a:endParaRPr lang="en-US" sz="2025" dirty="0"/>
          </a:p>
        </p:txBody>
      </p:sp>
      <p:sp>
        <p:nvSpPr>
          <p:cNvPr id="16" name="Text 13"/>
          <p:cNvSpPr/>
          <p:nvPr/>
        </p:nvSpPr>
        <p:spPr>
          <a:xfrm>
            <a:off x="342900" y="2986088"/>
            <a:ext cx="19431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Testes Passaram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2400300" y="2700338"/>
            <a:ext cx="1943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2025" dirty="0"/>
          </a:p>
        </p:txBody>
      </p:sp>
      <p:sp>
        <p:nvSpPr>
          <p:cNvPr id="18" name="Text 15"/>
          <p:cNvSpPr/>
          <p:nvPr/>
        </p:nvSpPr>
        <p:spPr>
          <a:xfrm>
            <a:off x="2400300" y="2986088"/>
            <a:ext cx="19431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Endpoints API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228600" y="3486150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Principais Benefícios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228600" y="3914775"/>
            <a:ext cx="4229100" cy="87153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4264819"/>
            <a:ext cx="171450" cy="1714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28650" y="4029075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Segurança Avançada</a:t>
            </a:r>
            <a:endParaRPr lang="en-US" sz="1046" dirty="0"/>
          </a:p>
        </p:txBody>
      </p:sp>
      <p:sp>
        <p:nvSpPr>
          <p:cNvPr id="23" name="Text 19"/>
          <p:cNvSpPr/>
          <p:nvPr/>
        </p:nvSpPr>
        <p:spPr>
          <a:xfrm>
            <a:off x="628650" y="4243388"/>
            <a:ext cx="3714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Proteção de chaves privadas com criptografia AES-256 e gestão segura de UTXOs</a:t>
            </a:r>
            <a:endParaRPr lang="en-US" sz="1046" dirty="0"/>
          </a:p>
        </p:txBody>
      </p:sp>
      <p:sp>
        <p:nvSpPr>
          <p:cNvPr id="24" name="Shape 20"/>
          <p:cNvSpPr/>
          <p:nvPr/>
        </p:nvSpPr>
        <p:spPr>
          <a:xfrm>
            <a:off x="228600" y="4872038"/>
            <a:ext cx="4229100" cy="87153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5222081"/>
            <a:ext cx="171450" cy="17145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8650" y="4986338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Rebalanceamento Inteligente</a:t>
            </a:r>
            <a:endParaRPr lang="en-US" sz="1046" dirty="0"/>
          </a:p>
        </p:txBody>
      </p:sp>
      <p:sp>
        <p:nvSpPr>
          <p:cNvPr id="27" name="Text 22"/>
          <p:cNvSpPr/>
          <p:nvPr/>
        </p:nvSpPr>
        <p:spPr>
          <a:xfrm>
            <a:off x="628650" y="5200650"/>
            <a:ext cx="3714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Otimização automática da distribuição de capital entre exchanges</a:t>
            </a:r>
            <a:endParaRPr lang="en-US" sz="1046" dirty="0"/>
          </a:p>
        </p:txBody>
      </p:sp>
      <p:sp>
        <p:nvSpPr>
          <p:cNvPr id="28" name="Shape 23"/>
          <p:cNvSpPr/>
          <p:nvPr/>
        </p:nvSpPr>
        <p:spPr>
          <a:xfrm>
            <a:off x="228600" y="5829300"/>
            <a:ext cx="4229100" cy="87153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179344"/>
            <a:ext cx="171450" cy="17145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28650" y="5943600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Maximização de Oportunidades</a:t>
            </a:r>
            <a:endParaRPr lang="en-US" sz="1046" dirty="0"/>
          </a:p>
        </p:txBody>
      </p:sp>
      <p:sp>
        <p:nvSpPr>
          <p:cNvPr id="31" name="Text 25"/>
          <p:cNvSpPr/>
          <p:nvPr/>
        </p:nvSpPr>
        <p:spPr>
          <a:xfrm>
            <a:off x="628650" y="6157913"/>
            <a:ext cx="3714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Maior capacidade de captura de oportunidades de arbitragem com capital disponível</a:t>
            </a:r>
            <a:endParaRPr lang="en-US" sz="1046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273" y="1500188"/>
            <a:ext cx="4095127" cy="2143125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4686300" y="3814763"/>
            <a:ext cx="4229100" cy="2171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27"/>
          <p:cNvSpPr/>
          <p:nvPr/>
        </p:nvSpPr>
        <p:spPr>
          <a:xfrm>
            <a:off x="4800600" y="3929063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436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Impacto no Sistema de Arbitragem</a:t>
            </a:r>
            <a:endParaRPr lang="en-US" sz="135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4300538"/>
            <a:ext cx="4000500" cy="1571625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28600" y="6872288"/>
            <a:ext cx="8686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FDR está pronto para transformar as operações de arbitragem, fornecendo uma base sólida e segura para o gerenciamento de capital.</a:t>
            </a:r>
            <a:endParaRPr lang="en-US" sz="104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2025-08-18T11:08:56Z</dcterms:created>
  <dcterms:modified xsi:type="dcterms:W3CDTF">2025-08-18T11:08:56Z</dcterms:modified>
</cp:coreProperties>
</file>