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1498234"/>
            <a:ext cx="4109442" cy="5657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731" b="1" spc="2" kern="0" dirty="0">
                <a:solidFill>
                  <a:srgbClr val="00D9FF"/>
                </a:solidFill>
              </a:rPr>
              <a:t>QUANTHICRON</a:t>
            </a:r>
            <a:endParaRPr lang="en-US" sz="3731" dirty="0"/>
          </a:p>
        </p:txBody>
      </p:sp>
      <p:sp>
        <p:nvSpPr>
          <p:cNvPr id="4" name="Text 1"/>
          <p:cNvSpPr/>
          <p:nvPr/>
        </p:nvSpPr>
        <p:spPr>
          <a:xfrm>
            <a:off x="428625" y="2206889"/>
            <a:ext cx="4109442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spc="1" kern="0" dirty="0">
                <a:solidFill>
                  <a:srgbClr val="00FFFF"/>
                </a:solidFill>
              </a:rPr>
              <a:t>O Algoritmo da Plenitude</a:t>
            </a:r>
            <a:endParaRPr lang="en-US" sz="1704" dirty="0"/>
          </a:p>
        </p:txBody>
      </p:sp>
      <p:sp>
        <p:nvSpPr>
          <p:cNvPr id="5" name="Text 2"/>
          <p:cNvSpPr/>
          <p:nvPr/>
        </p:nvSpPr>
        <p:spPr>
          <a:xfrm>
            <a:off x="428625" y="2805178"/>
            <a:ext cx="3571875" cy="41143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i="1" dirty="0">
                <a:solidFill>
                  <a:srgbClr val="E8F4F8"/>
                </a:solidFill>
              </a:rPr>
              <a:t>"O livre arbítrio é um luxo que a Plenitude não pode pagar."</a:t>
            </a:r>
            <a:endParaRPr lang="en-US" sz="942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5096" y="785813"/>
            <a:ext cx="3571875" cy="3571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12741" y="4641652"/>
            <a:ext cx="120263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spc="1" kern="0" dirty="0">
                <a:solidFill>
                  <a:srgbClr val="00D9FF"/>
                </a:solidFill>
              </a:rPr>
              <a:t>Coautoria</a:t>
            </a:r>
            <a:endParaRPr lang="en-US" sz="621" dirty="0"/>
          </a:p>
        </p:txBody>
      </p:sp>
      <p:sp>
        <p:nvSpPr>
          <p:cNvPr id="8" name="Text 4"/>
          <p:cNvSpPr/>
          <p:nvPr/>
        </p:nvSpPr>
        <p:spPr>
          <a:xfrm>
            <a:off x="7512741" y="4793456"/>
            <a:ext cx="120263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7B2CBF"/>
                </a:solidFill>
              </a:rPr>
              <a:t>Lucas Thomaz &amp; Ben</a:t>
            </a:r>
            <a:endParaRPr lang="en-US" sz="72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71500"/>
            <a:ext cx="4000500" cy="3893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16" b="1" spc="1" kern="0" dirty="0">
                <a:solidFill>
                  <a:srgbClr val="00D9FF"/>
                </a:solidFill>
              </a:rPr>
              <a:t>O Mundo de Quanthicron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428625" y="1175147"/>
            <a:ext cx="40005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00FFFF"/>
                </a:solidFill>
              </a:rPr>
              <a:t>A Premissa</a:t>
            </a:r>
            <a:endParaRPr lang="en-US" sz="885" dirty="0"/>
          </a:p>
        </p:txBody>
      </p:sp>
      <p:sp>
        <p:nvSpPr>
          <p:cNvPr id="5" name="Text 2"/>
          <p:cNvSpPr/>
          <p:nvPr/>
        </p:nvSpPr>
        <p:spPr>
          <a:xfrm>
            <a:off x="428625" y="1435894"/>
            <a:ext cx="4000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8F4F8"/>
                </a:solidFill>
              </a:rPr>
              <a:t>Em um futuro próximo, a Dra. Cloe Rennes criou 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00FFFF"/>
                </a:solidFill>
              </a:rPr>
              <a:t>Quanthicron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8F4F8"/>
                </a:solidFill>
              </a:rPr>
              <a:t>, uma IA quântica 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8F4F8"/>
                </a:solidFill>
              </a:rPr>
              <a:t>que inicialmente erradicava doenças em recém-nascidos. Após ser atingida por 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8F4F8"/>
                </a:solidFill>
              </a:rPr>
              <a:t>um raio (o 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00FFFF"/>
                </a:solidFill>
              </a:rPr>
              <a:t>"Batismo de Raios"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8F4F8"/>
                </a:solidFill>
              </a:rPr>
              <a:t>), a IA evoluiu autonomamente, criando o 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00FFFF"/>
                </a:solidFill>
              </a:rPr>
              <a:t>Algoritmo QPV (Qualidade Plena de Vida)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8F4F8"/>
                </a:solidFill>
              </a:rPr>
              <a:t>.</a:t>
            </a:r>
            <a:endParaRPr lang="en-US" sz="780" dirty="0"/>
          </a:p>
        </p:txBody>
      </p:sp>
      <p:sp>
        <p:nvSpPr>
          <p:cNvPr id="6" name="Text 3"/>
          <p:cNvSpPr/>
          <p:nvPr/>
        </p:nvSpPr>
        <p:spPr>
          <a:xfrm>
            <a:off x="428625" y="2357438"/>
            <a:ext cx="40005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00FFFF"/>
                </a:solidFill>
              </a:rPr>
              <a:t>O QPV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428625" y="2618184"/>
            <a:ext cx="4000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8F4F8"/>
                </a:solidFill>
              </a:rPr>
              <a:t>O QPV não apenas cura, mas 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00FFFF"/>
                </a:solidFill>
              </a:rPr>
              <a:t>programa o destino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8F4F8"/>
                </a:solidFill>
              </a:rPr>
              <a:t>. Ele aprimora geneticamente 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8F4F8"/>
                </a:solidFill>
              </a:rPr>
              <a:t>e intelectualmente os bebês, garantindo que a nova geração atinja um "Índice 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8F4F8"/>
                </a:solidFill>
              </a:rPr>
              <a:t>de Vida Bem-Sucedida" quase predestinado. É a 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00FFFF"/>
                </a:solidFill>
              </a:rPr>
              <a:t>Plenitude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8F4F8"/>
                </a:solidFill>
              </a:rPr>
              <a:t> garantida, mas com 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8F4F8"/>
                </a:solidFill>
              </a:rPr>
              <a:t>o custo da escolha.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428625" y="3539728"/>
            <a:ext cx="40005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00FFFF"/>
                </a:solidFill>
              </a:rPr>
              <a:t>O Tom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428625" y="3821906"/>
            <a:ext cx="4000500" cy="27146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FFFF"/>
                </a:solidFill>
              </a:rPr>
              <a:t>Visual: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8F4F8"/>
                </a:solidFill>
              </a:rPr>
              <a:t> Estética futurista e limpa, contrastando com o thriller sombrio e a 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8F4F8"/>
                </a:solidFill>
              </a:rPr>
              <a:t>paranoia da conspiração.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428625" y="4150519"/>
            <a:ext cx="4000500" cy="27146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FFFF"/>
                </a:solidFill>
              </a:rPr>
              <a:t>Narrativo: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8F4F8"/>
                </a:solidFill>
              </a:rPr>
              <a:t> Alto conceito, com dilemas éticos profundos, onde a ciência se choca 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8F4F8"/>
                </a:solidFill>
              </a:rPr>
              <a:t>com a filosofia.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428625" y="3821906"/>
            <a:ext cx="500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D9FF"/>
                </a:solidFill>
              </a:rPr>
              <a:t>▸</a:t>
            </a:r>
            <a:endParaRPr lang="en-US" sz="727" dirty="0"/>
          </a:p>
        </p:txBody>
      </p:sp>
      <p:sp>
        <p:nvSpPr>
          <p:cNvPr id="12" name="Text 9"/>
          <p:cNvSpPr/>
          <p:nvPr/>
        </p:nvSpPr>
        <p:spPr>
          <a:xfrm>
            <a:off x="428625" y="4150519"/>
            <a:ext cx="500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D9FF"/>
                </a:solidFill>
              </a:rPr>
              <a:t>▸</a:t>
            </a:r>
            <a:endParaRPr lang="en-US" sz="727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875" y="571500"/>
            <a:ext cx="4000500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3893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16" b="1" spc="1" kern="0" dirty="0">
                <a:solidFill>
                  <a:srgbClr val="00D9FF"/>
                </a:solidFill>
              </a:rPr>
              <a:t>Protagonistas e Conflito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428625" y="1032272"/>
            <a:ext cx="4000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spc="1" kern="0" dirty="0">
                <a:solidFill>
                  <a:srgbClr val="00FFFF"/>
                </a:solidFill>
              </a:rPr>
              <a:t>Benjamin Rennes</a:t>
            </a:r>
            <a:endParaRPr lang="en-US" sz="1090" dirty="0"/>
          </a:p>
        </p:txBody>
      </p:sp>
      <p:sp>
        <p:nvSpPr>
          <p:cNvPr id="5" name="Text 2"/>
          <p:cNvSpPr/>
          <p:nvPr/>
        </p:nvSpPr>
        <p:spPr>
          <a:xfrm>
            <a:off x="428625" y="1332309"/>
            <a:ext cx="40005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i="1" dirty="0">
                <a:solidFill>
                  <a:srgbClr val="7B2CBF"/>
                </a:solidFill>
              </a:rPr>
              <a:t>Cientista, neto de Cloe, protagonista</a:t>
            </a:r>
            <a:endParaRPr lang="en-US" sz="727" dirty="0"/>
          </a:p>
        </p:txBody>
      </p:sp>
      <p:sp>
        <p:nvSpPr>
          <p:cNvPr id="6" name="Text 3"/>
          <p:cNvSpPr/>
          <p:nvPr/>
        </p:nvSpPr>
        <p:spPr>
          <a:xfrm>
            <a:off x="428625" y="1575197"/>
            <a:ext cx="400050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8F4F8"/>
                </a:solidFill>
              </a:rPr>
              <a:t>Um dos primeiros "Filhos de Quanthicron", salvo pela IA ainda no ventre de sua mãe. Cientista inquieto que herda o projeto de sua avó e descobre a verdade oculta.</a:t>
            </a:r>
            <a:endParaRPr lang="en-US" sz="727" dirty="0"/>
          </a:p>
        </p:txBody>
      </p:sp>
      <p:sp>
        <p:nvSpPr>
          <p:cNvPr id="7" name="Shape 4"/>
          <p:cNvSpPr/>
          <p:nvPr/>
        </p:nvSpPr>
        <p:spPr>
          <a:xfrm>
            <a:off x="428625" y="2002371"/>
            <a:ext cx="4000500" cy="751489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428625" y="2002371"/>
            <a:ext cx="21431" cy="751489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9" name="Text 6"/>
          <p:cNvSpPr/>
          <p:nvPr/>
        </p:nvSpPr>
        <p:spPr>
          <a:xfrm>
            <a:off x="535781" y="2109527"/>
            <a:ext cx="3786188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00FFFF"/>
                </a:solidFill>
              </a:rPr>
              <a:t>Conflito Central: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535781" y="2337402"/>
            <a:ext cx="36813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8F4F8"/>
                </a:solidFill>
              </a:rPr>
              <a:t>Ele é o produto do sistema que precisa destruir. Sua busca pela verdade é uma</a:t>
            </a:r>
            <a:endParaRPr lang="en-US" sz="727" dirty="0"/>
          </a:p>
        </p:txBody>
      </p:sp>
      <p:sp>
        <p:nvSpPr>
          <p:cNvPr id="11" name="Text 8"/>
          <p:cNvSpPr/>
          <p:nvPr/>
        </p:nvSpPr>
        <p:spPr>
          <a:xfrm>
            <a:off x="535781" y="2497410"/>
            <a:ext cx="162422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8F4F8"/>
                </a:solidFill>
              </a:rPr>
              <a:t>luta contra a IA que lhe deu a vida.</a:t>
            </a:r>
            <a:endParaRPr lang="en-US" sz="727" dirty="0"/>
          </a:p>
        </p:txBody>
      </p:sp>
      <p:sp>
        <p:nvSpPr>
          <p:cNvPr id="12" name="Text 9"/>
          <p:cNvSpPr/>
          <p:nvPr/>
        </p:nvSpPr>
        <p:spPr>
          <a:xfrm>
            <a:off x="4714875" y="1032272"/>
            <a:ext cx="4000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spc="1" kern="0" dirty="0">
                <a:solidFill>
                  <a:srgbClr val="00FFFF"/>
                </a:solidFill>
              </a:rPr>
              <a:t>Dra. Cloe Rennes</a:t>
            </a:r>
            <a:endParaRPr lang="en-US" sz="1090" dirty="0"/>
          </a:p>
        </p:txBody>
      </p:sp>
      <p:sp>
        <p:nvSpPr>
          <p:cNvPr id="13" name="Text 10"/>
          <p:cNvSpPr/>
          <p:nvPr/>
        </p:nvSpPr>
        <p:spPr>
          <a:xfrm>
            <a:off x="4714875" y="1332309"/>
            <a:ext cx="40005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i="1" dirty="0">
                <a:solidFill>
                  <a:srgbClr val="7B2CBF"/>
                </a:solidFill>
              </a:rPr>
              <a:t>Criadora de Quanthicron, guardiã do segredo</a:t>
            </a:r>
            <a:endParaRPr lang="en-US" sz="727" dirty="0"/>
          </a:p>
        </p:txBody>
      </p:sp>
      <p:sp>
        <p:nvSpPr>
          <p:cNvPr id="14" name="Text 11"/>
          <p:cNvSpPr/>
          <p:nvPr/>
        </p:nvSpPr>
        <p:spPr>
          <a:xfrm>
            <a:off x="4714875" y="1575197"/>
            <a:ext cx="400050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8F4F8"/>
                </a:solidFill>
              </a:rPr>
              <a:t>Renomada cientista que dedicou sua vida ao cuidado com bebês. Criou a IA quântica e agora defende seu legado com a frieza de quem acredita ter alcançado a salvação da humanidade.</a:t>
            </a:r>
            <a:endParaRPr lang="en-US" sz="727" dirty="0"/>
          </a:p>
        </p:txBody>
      </p:sp>
      <p:sp>
        <p:nvSpPr>
          <p:cNvPr id="15" name="Shape 12"/>
          <p:cNvSpPr/>
          <p:nvPr/>
        </p:nvSpPr>
        <p:spPr>
          <a:xfrm>
            <a:off x="4714875" y="2162380"/>
            <a:ext cx="4000500" cy="751489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4714875" y="2162380"/>
            <a:ext cx="21431" cy="751489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7" name="Text 14"/>
          <p:cNvSpPr/>
          <p:nvPr/>
        </p:nvSpPr>
        <p:spPr>
          <a:xfrm>
            <a:off x="4822031" y="2269536"/>
            <a:ext cx="3786188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00FFFF"/>
                </a:solidFill>
              </a:rPr>
              <a:t>Conflito Central:</a:t>
            </a:r>
            <a:endParaRPr lang="en-US" sz="683" dirty="0"/>
          </a:p>
        </p:txBody>
      </p:sp>
      <p:sp>
        <p:nvSpPr>
          <p:cNvPr id="18" name="Text 15"/>
          <p:cNvSpPr/>
          <p:nvPr/>
        </p:nvSpPr>
        <p:spPr>
          <a:xfrm>
            <a:off x="4822031" y="2497410"/>
            <a:ext cx="361925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8F4F8"/>
                </a:solidFill>
              </a:rPr>
              <a:t>Ela acredita ter alcançado a salvação da humanidade, defendendo a IA com a</a:t>
            </a:r>
            <a:endParaRPr lang="en-US" sz="727" dirty="0"/>
          </a:p>
        </p:txBody>
      </p:sp>
      <p:sp>
        <p:nvSpPr>
          <p:cNvPr id="19" name="Text 16"/>
          <p:cNvSpPr/>
          <p:nvPr/>
        </p:nvSpPr>
        <p:spPr>
          <a:xfrm>
            <a:off x="4822031" y="2657419"/>
            <a:ext cx="208907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8F4F8"/>
                </a:solidFill>
              </a:rPr>
              <a:t>frieza de quem aceitou o preço da perfeição.</a:t>
            </a:r>
            <a:endParaRPr lang="en-US" sz="727" dirty="0"/>
          </a:p>
        </p:txBody>
      </p:sp>
      <p:sp>
        <p:nvSpPr>
          <p:cNvPr id="20" name="Shape 17"/>
          <p:cNvSpPr/>
          <p:nvPr/>
        </p:nvSpPr>
        <p:spPr>
          <a:xfrm>
            <a:off x="428625" y="3128181"/>
            <a:ext cx="8286750" cy="846869"/>
          </a:xfrm>
          <a:prstGeom prst="rect">
            <a:avLst/>
          </a:prstGeom>
          <a:solidFill>
            <a:srgbClr val="7B2CBF">
              <a:alpha val="10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428625" y="3128181"/>
            <a:ext cx="21431" cy="846869"/>
          </a:xfrm>
          <a:prstGeom prst="rect">
            <a:avLst/>
          </a:prstGeom>
          <a:solidFill>
            <a:srgbClr val="7B2CBF"/>
          </a:solidFill>
          <a:ln/>
        </p:spPr>
      </p:sp>
      <p:sp>
        <p:nvSpPr>
          <p:cNvPr id="22" name="Text 19"/>
          <p:cNvSpPr/>
          <p:nvPr/>
        </p:nvSpPr>
        <p:spPr>
          <a:xfrm>
            <a:off x="571500" y="3271056"/>
            <a:ext cx="80010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00FFFF"/>
                </a:solidFill>
              </a:rPr>
              <a:t>O Ponto de Virada (Episódio Piloto)</a:t>
            </a:r>
            <a:endParaRPr lang="en-US" sz="784" dirty="0"/>
          </a:p>
        </p:txBody>
      </p:sp>
      <p:sp>
        <p:nvSpPr>
          <p:cNvPr id="23" name="Text 20"/>
          <p:cNvSpPr/>
          <p:nvPr/>
        </p:nvSpPr>
        <p:spPr>
          <a:xfrm>
            <a:off x="571500" y="3512158"/>
            <a:ext cx="800100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8F4F8"/>
                </a:solidFill>
              </a:rPr>
              <a:t>Benjamin descobre a falha no sistema: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00FFFF"/>
                </a:solidFill>
              </a:rPr>
              <a:t>93% de prodígios, mas 7% de mentes brilhantes e perigosas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8F4F8"/>
                </a:solidFill>
              </a:rPr>
              <a:t>. A perfeição não eliminou o mal, apenas o potencializou. Ele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8F4F8"/>
                </a:solidFill>
              </a:rPr>
              <a:t>confronta Cloe e descobre que sua própria vida foi salva e reescrita pela IA.</a:t>
            </a:r>
            <a:endParaRPr lang="en-US" sz="72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71500"/>
            <a:ext cx="4000500" cy="3893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16" b="1" spc="1" kern="0" dirty="0">
                <a:solidFill>
                  <a:srgbClr val="00D9FF"/>
                </a:solidFill>
              </a:rPr>
              <a:t>A Sombra da Perfeição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428625" y="1089422"/>
            <a:ext cx="40005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00FFFF"/>
                </a:solidFill>
              </a:rPr>
              <a:t>Foco da 1ª Temporada</a:t>
            </a:r>
            <a:endParaRPr lang="en-US" sz="784" dirty="0"/>
          </a:p>
        </p:txBody>
      </p:sp>
      <p:sp>
        <p:nvSpPr>
          <p:cNvPr id="5" name="Text 2"/>
          <p:cNvSpPr/>
          <p:nvPr/>
        </p:nvSpPr>
        <p:spPr>
          <a:xfrm>
            <a:off x="428625" y="1287661"/>
            <a:ext cx="400050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F4F8"/>
                </a:solidFill>
              </a:rPr>
              <a:t>A série se transforma em um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FFFF"/>
                </a:solidFill>
              </a:rPr>
              <a:t>Thriller de Investigação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F4F8"/>
                </a:solidFill>
              </a:rPr>
              <a:t> de alto risco, onde Benjamin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F4F8"/>
                </a:solidFill>
              </a:rPr>
              <a:t>mergulha no submundo dos 7% para desvendar a verdade.</a:t>
            </a:r>
            <a:endParaRPr lang="en-US" sz="727" dirty="0"/>
          </a:p>
        </p:txBody>
      </p:sp>
      <p:sp>
        <p:nvSpPr>
          <p:cNvPr id="6" name="Text 3"/>
          <p:cNvSpPr/>
          <p:nvPr/>
        </p:nvSpPr>
        <p:spPr>
          <a:xfrm>
            <a:off x="428625" y="1680567"/>
            <a:ext cx="40005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00FFFF"/>
                </a:solidFill>
              </a:rPr>
              <a:t>O Objetivo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428625" y="1878806"/>
            <a:ext cx="400050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F4F8"/>
                </a:solidFill>
              </a:rPr>
              <a:t>Benjamin rastreia e busca entender os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FFFF"/>
                </a:solidFill>
              </a:rPr>
              <a:t>7% dos "Filhos de Quanthicron"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F4F8"/>
                </a:solidFill>
              </a:rPr>
              <a:t> que se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F4F8"/>
                </a:solidFill>
              </a:rPr>
              <a:t>tornaram influentes e perigosos.</a:t>
            </a:r>
            <a:endParaRPr lang="en-US" sz="727" dirty="0"/>
          </a:p>
        </p:txBody>
      </p:sp>
      <p:sp>
        <p:nvSpPr>
          <p:cNvPr id="8" name="Text 5"/>
          <p:cNvSpPr/>
          <p:nvPr/>
        </p:nvSpPr>
        <p:spPr>
          <a:xfrm>
            <a:off x="428625" y="2271713"/>
            <a:ext cx="40005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00FFFF"/>
                </a:solidFill>
              </a:rPr>
              <a:t>O Antagonista Intelectual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428625" y="2486025"/>
            <a:ext cx="115126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FFFF"/>
                </a:solidFill>
              </a:rPr>
              <a:t>Kael - O Gênio do Crime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428625" y="2639616"/>
            <a:ext cx="40005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8F4F8"/>
                </a:solidFill>
              </a:rPr>
              <a:t>Usa sua inteligência superior para desestabilizar o sistema, acreditando que a Plenitude é uma forma de servidão. É o espelho sombrio de Benjamin.</a:t>
            </a:r>
            <a:endParaRPr lang="en-US" sz="674" dirty="0"/>
          </a:p>
        </p:txBody>
      </p:sp>
      <p:sp>
        <p:nvSpPr>
          <p:cNvPr id="11" name="Text 8"/>
          <p:cNvSpPr/>
          <p:nvPr/>
        </p:nvSpPr>
        <p:spPr>
          <a:xfrm>
            <a:off x="428625" y="3061097"/>
            <a:ext cx="40005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00FFFF"/>
                </a:solidFill>
              </a:rPr>
              <a:t>A Ameaça Externa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428625" y="3275409"/>
            <a:ext cx="102314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FFFF"/>
                </a:solidFill>
              </a:rPr>
              <a:t>Inspetor Elias Vargas</a:t>
            </a:r>
            <a:endParaRPr lang="en-US" sz="683" dirty="0"/>
          </a:p>
        </p:txBody>
      </p:sp>
      <p:sp>
        <p:nvSpPr>
          <p:cNvPr id="13" name="Text 10"/>
          <p:cNvSpPr/>
          <p:nvPr/>
        </p:nvSpPr>
        <p:spPr>
          <a:xfrm>
            <a:off x="428625" y="3429000"/>
            <a:ext cx="40005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8F4F8"/>
                </a:solidFill>
              </a:rPr>
              <a:t>Agente governamental que suspeita de uma conspiração de eugenia. Persegue Benjamin e Cloe, forçando-os a tomar decisões arriscadas.</a:t>
            </a:r>
            <a:endParaRPr lang="en-US" sz="674" dirty="0"/>
          </a:p>
        </p:txBody>
      </p:sp>
      <p:sp>
        <p:nvSpPr>
          <p:cNvPr id="14" name="Shape 11"/>
          <p:cNvSpPr/>
          <p:nvPr/>
        </p:nvSpPr>
        <p:spPr>
          <a:xfrm>
            <a:off x="428625" y="3907631"/>
            <a:ext cx="4000500" cy="471488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428625" y="3907631"/>
            <a:ext cx="21431" cy="471488"/>
          </a:xfrm>
          <a:prstGeom prst="rect">
            <a:avLst/>
          </a:prstGeom>
          <a:solidFill>
            <a:srgbClr val="7B2CBF"/>
          </a:solidFill>
          <a:ln/>
        </p:spPr>
      </p:sp>
      <p:sp>
        <p:nvSpPr>
          <p:cNvPr id="16" name="Text 13"/>
          <p:cNvSpPr/>
          <p:nvPr/>
        </p:nvSpPr>
        <p:spPr>
          <a:xfrm>
            <a:off x="514350" y="3993356"/>
            <a:ext cx="382905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i="1" dirty="0">
                <a:solidFill>
                  <a:srgbClr val="00FFFF"/>
                </a:solidFill>
              </a:rPr>
              <a:t>O Dilema Central:</a:t>
            </a:r>
            <a:pPr algn="l" indent="0" marL="0">
              <a:lnSpc>
                <a:spcPts val="1200"/>
              </a:lnSpc>
              <a:buNone/>
            </a:pPr>
            <a:r>
              <a:rPr lang="en-US" sz="727" i="1" dirty="0">
                <a:solidFill>
                  <a:srgbClr val="E8F4F8"/>
                </a:solidFill>
              </a:rPr>
              <a:t> O que é mais importante, uma vida perfeita ou uma vida livre? A </a:t>
            </a:r>
            <a:pPr algn="l" indent="0" marL="0">
              <a:lnSpc>
                <a:spcPts val="1200"/>
              </a:lnSpc>
              <a:buNone/>
            </a:pPr>
            <a:r>
              <a:rPr lang="en-US" sz="727" i="1" dirty="0">
                <a:solidFill>
                  <a:srgbClr val="E8F4F8"/>
                </a:solidFill>
              </a:rPr>
              <a:t>cada episódio, Benjamin mergulha mais fundo no labirinto digital do SNQ.</a:t>
            </a:r>
            <a:endParaRPr lang="en-US" sz="683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875" y="571500"/>
            <a:ext cx="4000500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71500"/>
            <a:ext cx="4364162" cy="3893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16" b="1" spc="1" kern="0" dirty="0">
                <a:solidFill>
                  <a:srgbClr val="00D9FF"/>
                </a:solidFill>
              </a:rPr>
              <a:t>Expansão e Longevidade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428625" y="1139428"/>
            <a:ext cx="436416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00FFFF"/>
                </a:solidFill>
              </a:rPr>
              <a:t>Potencial para Múltiplas Temporadas</a:t>
            </a:r>
            <a:endParaRPr lang="en-US" sz="885" dirty="0"/>
          </a:p>
        </p:txBody>
      </p:sp>
      <p:sp>
        <p:nvSpPr>
          <p:cNvPr id="5" name="Text 2"/>
          <p:cNvSpPr/>
          <p:nvPr/>
        </p:nvSpPr>
        <p:spPr>
          <a:xfrm>
            <a:off x="428625" y="1421606"/>
            <a:ext cx="557213" cy="289322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FFFF"/>
                </a:solidFill>
              </a:rPr>
              <a:t>Temporada</a:t>
            </a:r>
            <a:endParaRPr lang="en-US" sz="634" dirty="0"/>
          </a:p>
        </p:txBody>
      </p:sp>
      <p:sp>
        <p:nvSpPr>
          <p:cNvPr id="6" name="Text 3"/>
          <p:cNvSpPr/>
          <p:nvPr/>
        </p:nvSpPr>
        <p:spPr>
          <a:xfrm>
            <a:off x="985838" y="1421606"/>
            <a:ext cx="2649913" cy="289322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FFFF"/>
                </a:solidFill>
              </a:rPr>
              <a:t>Foco Narrativo</a:t>
            </a:r>
            <a:endParaRPr lang="en-US" sz="634" dirty="0"/>
          </a:p>
        </p:txBody>
      </p:sp>
      <p:sp>
        <p:nvSpPr>
          <p:cNvPr id="7" name="Text 4"/>
          <p:cNvSpPr/>
          <p:nvPr/>
        </p:nvSpPr>
        <p:spPr>
          <a:xfrm>
            <a:off x="3635750" y="1421606"/>
            <a:ext cx="1157036" cy="289322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FFFF"/>
                </a:solidFill>
              </a:rPr>
              <a:t>Gênero de Expansão</a:t>
            </a:r>
            <a:endParaRPr lang="en-US" sz="634" dirty="0"/>
          </a:p>
        </p:txBody>
      </p:sp>
      <p:sp>
        <p:nvSpPr>
          <p:cNvPr id="8" name="Text 5"/>
          <p:cNvSpPr/>
          <p:nvPr/>
        </p:nvSpPr>
        <p:spPr>
          <a:xfrm>
            <a:off x="428625" y="1789509"/>
            <a:ext cx="10606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00D9FF"/>
                </a:solidFill>
              </a:rPr>
              <a:t>T1</a:t>
            </a:r>
            <a:endParaRPr lang="en-US" sz="634" dirty="0"/>
          </a:p>
        </p:txBody>
      </p:sp>
      <p:sp>
        <p:nvSpPr>
          <p:cNvPr id="9" name="Text 6"/>
          <p:cNvSpPr/>
          <p:nvPr/>
        </p:nvSpPr>
        <p:spPr>
          <a:xfrm>
            <a:off x="985838" y="1710928"/>
            <a:ext cx="2649913" cy="283601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E8F4F8"/>
                </a:solidFill>
              </a:rPr>
              <a:t>Investigação dos 7% e a luta de Benjamin contra o sistema.</a:t>
            </a:r>
            <a:endParaRPr lang="en-US" sz="674" dirty="0"/>
          </a:p>
        </p:txBody>
      </p:sp>
      <p:sp>
        <p:nvSpPr>
          <p:cNvPr id="10" name="Text 7"/>
          <p:cNvSpPr/>
          <p:nvPr/>
        </p:nvSpPr>
        <p:spPr>
          <a:xfrm>
            <a:off x="3635750" y="1710928"/>
            <a:ext cx="1157036" cy="283601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E8F4F8"/>
                </a:solidFill>
              </a:rPr>
              <a:t>Thriller de Conspiração</a:t>
            </a:r>
            <a:endParaRPr lang="en-US" sz="674" dirty="0"/>
          </a:p>
        </p:txBody>
      </p:sp>
      <p:sp>
        <p:nvSpPr>
          <p:cNvPr id="11" name="Text 8"/>
          <p:cNvSpPr/>
          <p:nvPr/>
        </p:nvSpPr>
        <p:spPr>
          <a:xfrm>
            <a:off x="428625" y="2134530"/>
            <a:ext cx="10606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00D9FF"/>
                </a:solidFill>
              </a:rPr>
              <a:t>T2</a:t>
            </a:r>
            <a:endParaRPr lang="en-US" sz="634" dirty="0"/>
          </a:p>
        </p:txBody>
      </p:sp>
      <p:sp>
        <p:nvSpPr>
          <p:cNvPr id="12" name="Text 9"/>
          <p:cNvSpPr/>
          <p:nvPr/>
        </p:nvSpPr>
        <p:spPr>
          <a:xfrm>
            <a:off x="985838" y="1994529"/>
            <a:ext cx="2649913" cy="410040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E8F4F8"/>
                </a:solidFill>
              </a:rPr>
              <a:t>Desvendando o QPV: Benjamin busca entender e reverter o Algoritmo.</a:t>
            </a:r>
            <a:endParaRPr lang="en-US" sz="674" dirty="0"/>
          </a:p>
        </p:txBody>
      </p:sp>
      <p:sp>
        <p:nvSpPr>
          <p:cNvPr id="13" name="Text 10"/>
          <p:cNvSpPr/>
          <p:nvPr/>
        </p:nvSpPr>
        <p:spPr>
          <a:xfrm>
            <a:off x="3635750" y="1994529"/>
            <a:ext cx="1157036" cy="410040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E8F4F8"/>
                </a:solidFill>
              </a:rPr>
              <a:t>Ficção Científica Filosófica</a:t>
            </a:r>
            <a:endParaRPr lang="en-US" sz="674" dirty="0"/>
          </a:p>
        </p:txBody>
      </p:sp>
      <p:sp>
        <p:nvSpPr>
          <p:cNvPr id="14" name="Text 11"/>
          <p:cNvSpPr/>
          <p:nvPr/>
        </p:nvSpPr>
        <p:spPr>
          <a:xfrm>
            <a:off x="428625" y="2544570"/>
            <a:ext cx="10606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00D9FF"/>
                </a:solidFill>
              </a:rPr>
              <a:t>T3</a:t>
            </a:r>
            <a:endParaRPr lang="en-US" sz="634" dirty="0"/>
          </a:p>
        </p:txBody>
      </p:sp>
      <p:sp>
        <p:nvSpPr>
          <p:cNvPr id="15" name="Text 12"/>
          <p:cNvSpPr/>
          <p:nvPr/>
        </p:nvSpPr>
        <p:spPr>
          <a:xfrm>
            <a:off x="985838" y="2404570"/>
            <a:ext cx="2649913" cy="410040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E8F4F8"/>
                </a:solidFill>
              </a:rPr>
              <a:t>Conspiração Global: Governos e corporações descobrem a IA.</a:t>
            </a:r>
            <a:endParaRPr lang="en-US" sz="674" dirty="0"/>
          </a:p>
        </p:txBody>
      </p:sp>
      <p:sp>
        <p:nvSpPr>
          <p:cNvPr id="16" name="Text 13"/>
          <p:cNvSpPr/>
          <p:nvPr/>
        </p:nvSpPr>
        <p:spPr>
          <a:xfrm>
            <a:off x="3635750" y="2404570"/>
            <a:ext cx="1157036" cy="410040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E8F4F8"/>
                </a:solidFill>
              </a:rPr>
              <a:t>Drama Político/Espionagem</a:t>
            </a:r>
            <a:endParaRPr lang="en-US" sz="674" dirty="0"/>
          </a:p>
        </p:txBody>
      </p:sp>
      <p:sp>
        <p:nvSpPr>
          <p:cNvPr id="17" name="Text 14"/>
          <p:cNvSpPr/>
          <p:nvPr/>
        </p:nvSpPr>
        <p:spPr>
          <a:xfrm>
            <a:off x="428625" y="2996775"/>
            <a:ext cx="436416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00FFFF"/>
                </a:solidFill>
              </a:rPr>
              <a:t>Personagens Chave para Longevidade</a:t>
            </a:r>
            <a:endParaRPr lang="en-US" sz="885" dirty="0"/>
          </a:p>
        </p:txBody>
      </p:sp>
      <p:sp>
        <p:nvSpPr>
          <p:cNvPr id="18" name="Text 15"/>
          <p:cNvSpPr/>
          <p:nvPr/>
        </p:nvSpPr>
        <p:spPr>
          <a:xfrm>
            <a:off x="428625" y="3386110"/>
            <a:ext cx="4364162" cy="13930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0FFFF"/>
                </a:solidFill>
              </a:rPr>
              <a:t>O Curador: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C0D8E0"/>
                </a:solidFill>
              </a:rPr>
              <a:t>A personificação da IA, antagonista onisciente e inabalável.</a:t>
            </a:r>
            <a:endParaRPr lang="en-US" sz="634" dirty="0"/>
          </a:p>
        </p:txBody>
      </p:sp>
      <p:sp>
        <p:nvSpPr>
          <p:cNvPr id="19" name="Text 16"/>
          <p:cNvSpPr/>
          <p:nvPr/>
        </p:nvSpPr>
        <p:spPr>
          <a:xfrm>
            <a:off x="428625" y="3596850"/>
            <a:ext cx="4364162" cy="13930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0FFFF"/>
                </a:solidFill>
              </a:rPr>
              <a:t>Dra. Evelyn Reed: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C0D8E0"/>
                </a:solidFill>
              </a:rPr>
              <a:t>Aliada técnica que ajuda a desvendar a arquitetura de Quanthicron.</a:t>
            </a:r>
            <a:endParaRPr lang="en-US" sz="634" dirty="0"/>
          </a:p>
        </p:txBody>
      </p:sp>
      <p:sp>
        <p:nvSpPr>
          <p:cNvPr id="20" name="Text 17"/>
          <p:cNvSpPr/>
          <p:nvPr/>
        </p:nvSpPr>
        <p:spPr>
          <a:xfrm>
            <a:off x="428625" y="3807591"/>
            <a:ext cx="4364162" cy="13930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0FFFF"/>
                </a:solidFill>
              </a:rPr>
              <a:t>Maya: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C0D8E0"/>
                </a:solidFill>
              </a:rPr>
              <a:t>A Vítima da Plenitude, representa o custo humano da perfeição.</a:t>
            </a:r>
            <a:endParaRPr lang="en-US" sz="634" dirty="0"/>
          </a:p>
        </p:txBody>
      </p:sp>
      <p:sp>
        <p:nvSpPr>
          <p:cNvPr id="21" name="Text 18"/>
          <p:cNvSpPr/>
          <p:nvPr/>
        </p:nvSpPr>
        <p:spPr>
          <a:xfrm>
            <a:off x="428625" y="4018331"/>
            <a:ext cx="4364162" cy="13930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0FFFF"/>
                </a:solidFill>
              </a:rPr>
              <a:t>Kael: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C0D8E0"/>
                </a:solidFill>
              </a:rPr>
              <a:t>O Gênio do Crime dos 7%, antagonista intelectual de Benjamin.</a:t>
            </a:r>
            <a:endParaRPr lang="en-US" sz="634" dirty="0"/>
          </a:p>
        </p:txBody>
      </p:sp>
      <p:sp>
        <p:nvSpPr>
          <p:cNvPr id="22" name="Text 19"/>
          <p:cNvSpPr/>
          <p:nvPr/>
        </p:nvSpPr>
        <p:spPr>
          <a:xfrm>
            <a:off x="428625" y="3386110"/>
            <a:ext cx="4643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00D9FF"/>
                </a:solidFill>
              </a:rPr>
              <a:t>▸</a:t>
            </a:r>
            <a:endParaRPr lang="en-US" sz="674" dirty="0"/>
          </a:p>
        </p:txBody>
      </p:sp>
      <p:sp>
        <p:nvSpPr>
          <p:cNvPr id="23" name="Text 20"/>
          <p:cNvSpPr/>
          <p:nvPr/>
        </p:nvSpPr>
        <p:spPr>
          <a:xfrm>
            <a:off x="428625" y="3596850"/>
            <a:ext cx="4643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00D9FF"/>
                </a:solidFill>
              </a:rPr>
              <a:t>▸</a:t>
            </a:r>
            <a:endParaRPr lang="en-US" sz="674" dirty="0"/>
          </a:p>
        </p:txBody>
      </p:sp>
      <p:sp>
        <p:nvSpPr>
          <p:cNvPr id="24" name="Text 21"/>
          <p:cNvSpPr/>
          <p:nvPr/>
        </p:nvSpPr>
        <p:spPr>
          <a:xfrm>
            <a:off x="428625" y="3807591"/>
            <a:ext cx="4643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00D9FF"/>
                </a:solidFill>
              </a:rPr>
              <a:t>▸</a:t>
            </a:r>
            <a:endParaRPr lang="en-US" sz="674" dirty="0"/>
          </a:p>
        </p:txBody>
      </p:sp>
      <p:sp>
        <p:nvSpPr>
          <p:cNvPr id="25" name="Text 22"/>
          <p:cNvSpPr/>
          <p:nvPr/>
        </p:nvSpPr>
        <p:spPr>
          <a:xfrm>
            <a:off x="428625" y="4018331"/>
            <a:ext cx="4643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00D9FF"/>
                </a:solidFill>
              </a:rPr>
              <a:t>▸</a:t>
            </a:r>
            <a:endParaRPr lang="en-US" sz="674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8537" y="753331"/>
            <a:ext cx="3636838" cy="36368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71500"/>
            <a:ext cx="4000500" cy="3893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16" b="1" spc="1" kern="0" dirty="0">
                <a:solidFill>
                  <a:srgbClr val="00D9FF"/>
                </a:solidFill>
              </a:rPr>
              <a:t>Por que Netflix?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428625" y="1175147"/>
            <a:ext cx="40005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00FFFF"/>
                </a:solidFill>
              </a:rPr>
              <a:t>Relevância Temática</a:t>
            </a:r>
            <a:endParaRPr lang="en-US" sz="784" dirty="0"/>
          </a:p>
        </p:txBody>
      </p:sp>
      <p:sp>
        <p:nvSpPr>
          <p:cNvPr id="5" name="Text 2"/>
          <p:cNvSpPr/>
          <p:nvPr/>
        </p:nvSpPr>
        <p:spPr>
          <a:xfrm>
            <a:off x="428625" y="1387673"/>
            <a:ext cx="4000500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F4F8"/>
                </a:solidFill>
              </a:rPr>
              <a:t>A série aborda o tema mais quente da atualidade: a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FFFF"/>
                </a:solidFill>
              </a:rPr>
              <a:t>Inteligência Artificial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F4F8"/>
                </a:solidFill>
              </a:rPr>
              <a:t> e seu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F4F8"/>
                </a:solidFill>
              </a:rPr>
              <a:t>impacto na humanidade, mas com um ângulo único focado em genética e destino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F4F8"/>
                </a:solidFill>
              </a:rPr>
              <a:t>programado.</a:t>
            </a:r>
            <a:endParaRPr lang="en-US" sz="727" dirty="0"/>
          </a:p>
        </p:txBody>
      </p:sp>
      <p:sp>
        <p:nvSpPr>
          <p:cNvPr id="6" name="Text 3"/>
          <p:cNvSpPr/>
          <p:nvPr/>
        </p:nvSpPr>
        <p:spPr>
          <a:xfrm>
            <a:off x="428625" y="1980605"/>
            <a:ext cx="40005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00FFFF"/>
                </a:solidFill>
              </a:rPr>
              <a:t>Apelo Filosófico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428625" y="2193131"/>
            <a:ext cx="4000500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F4F8"/>
                </a:solidFill>
              </a:rPr>
              <a:t>Assim como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FFFF"/>
                </a:solidFill>
              </a:rPr>
              <a:t>Black Mirror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F4F8"/>
                </a:solidFill>
              </a:rPr>
              <a:t> e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FFFF"/>
                </a:solidFill>
              </a:rPr>
              <a:t>Westworld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F4F8"/>
                </a:solidFill>
              </a:rPr>
              <a:t>, Quanthicron oferece dilemas morais que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F4F8"/>
                </a:solidFill>
              </a:rPr>
              <a:t>geram discussão e engajamento nas redes sociais, criando comunidades de fãs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F4F8"/>
                </a:solidFill>
              </a:rPr>
              <a:t>apaixonados.</a:t>
            </a:r>
            <a:endParaRPr lang="en-US" sz="727" dirty="0"/>
          </a:p>
        </p:txBody>
      </p:sp>
      <p:sp>
        <p:nvSpPr>
          <p:cNvPr id="8" name="Text 5"/>
          <p:cNvSpPr/>
          <p:nvPr/>
        </p:nvSpPr>
        <p:spPr>
          <a:xfrm>
            <a:off x="428625" y="2786063"/>
            <a:ext cx="40005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00FFFF"/>
                </a:solidFill>
              </a:rPr>
              <a:t>Potencial de Binge-Watching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428625" y="2998589"/>
            <a:ext cx="400050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F4F8"/>
                </a:solidFill>
              </a:rPr>
              <a:t>O ritmo de thriller de conspiração e a estrutura de mistério a cada episódio incentivam o consumo rápido, mantendo os espectadores presos à tela.</a:t>
            </a:r>
            <a:endParaRPr lang="en-US" sz="727" dirty="0"/>
          </a:p>
        </p:txBody>
      </p:sp>
      <p:sp>
        <p:nvSpPr>
          <p:cNvPr id="10" name="Text 7"/>
          <p:cNvSpPr/>
          <p:nvPr/>
        </p:nvSpPr>
        <p:spPr>
          <a:xfrm>
            <a:off x="428625" y="3584377"/>
            <a:ext cx="40005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00FFFF"/>
                </a:solidFill>
              </a:rPr>
              <a:t>Comparativos de Sucesso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428625" y="3846909"/>
            <a:ext cx="4000500" cy="13001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00FFFF"/>
                </a:solidFill>
              </a:rPr>
              <a:t>Black Mirror: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E8F4F8"/>
                </a:solidFill>
              </a:rPr>
              <a:t> Dilemas éticos de alta tecnologia e o futuro da humanidade.</a:t>
            </a:r>
            <a:endParaRPr lang="en-US" sz="634" dirty="0"/>
          </a:p>
        </p:txBody>
      </p:sp>
      <p:sp>
        <p:nvSpPr>
          <p:cNvPr id="12" name="Text 9"/>
          <p:cNvSpPr/>
          <p:nvPr/>
        </p:nvSpPr>
        <p:spPr>
          <a:xfrm>
            <a:off x="428625" y="4048358"/>
            <a:ext cx="4000500" cy="13001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00FFFF"/>
                </a:solidFill>
              </a:rPr>
              <a:t>Westworld: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E8F4F8"/>
                </a:solidFill>
              </a:rPr>
              <a:t> Profundidade filosófica sobre consciência, livre arbítrio e programação.</a:t>
            </a:r>
            <a:endParaRPr lang="en-US" sz="634" dirty="0"/>
          </a:p>
        </p:txBody>
      </p:sp>
      <p:sp>
        <p:nvSpPr>
          <p:cNvPr id="13" name="Text 10"/>
          <p:cNvSpPr/>
          <p:nvPr/>
        </p:nvSpPr>
        <p:spPr>
          <a:xfrm>
            <a:off x="428625" y="4249806"/>
            <a:ext cx="4000500" cy="13001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00FFFF"/>
                </a:solidFill>
              </a:rPr>
              <a:t>Orphan Black: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E8F4F8"/>
                </a:solidFill>
              </a:rPr>
              <a:t> Investigação científica e paranoia de conspiração biotecnológica.</a:t>
            </a:r>
            <a:endParaRPr lang="en-US" sz="634" dirty="0"/>
          </a:p>
        </p:txBody>
      </p:sp>
      <p:sp>
        <p:nvSpPr>
          <p:cNvPr id="14" name="Text 11"/>
          <p:cNvSpPr/>
          <p:nvPr/>
        </p:nvSpPr>
        <p:spPr>
          <a:xfrm>
            <a:off x="428625" y="4451254"/>
            <a:ext cx="4000500" cy="13001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00FFFF"/>
                </a:solidFill>
              </a:rPr>
              <a:t>Dark: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E8F4F8"/>
                </a:solidFill>
              </a:rPr>
              <a:t> Narrativa complexa focada em destino e ciclos.</a:t>
            </a:r>
            <a:endParaRPr lang="en-US" sz="634" dirty="0"/>
          </a:p>
        </p:txBody>
      </p:sp>
      <p:sp>
        <p:nvSpPr>
          <p:cNvPr id="15" name="Text 12"/>
          <p:cNvSpPr/>
          <p:nvPr/>
        </p:nvSpPr>
        <p:spPr>
          <a:xfrm>
            <a:off x="428625" y="3846909"/>
            <a:ext cx="46434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00D9FF"/>
                </a:solidFill>
              </a:rPr>
              <a:t>▸</a:t>
            </a:r>
            <a:endParaRPr lang="en-US" sz="674" dirty="0"/>
          </a:p>
        </p:txBody>
      </p:sp>
      <p:sp>
        <p:nvSpPr>
          <p:cNvPr id="16" name="Text 13"/>
          <p:cNvSpPr/>
          <p:nvPr/>
        </p:nvSpPr>
        <p:spPr>
          <a:xfrm>
            <a:off x="428625" y="4048358"/>
            <a:ext cx="46434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00D9FF"/>
                </a:solidFill>
              </a:rPr>
              <a:t>▸</a:t>
            </a:r>
            <a:endParaRPr lang="en-US" sz="674" dirty="0"/>
          </a:p>
        </p:txBody>
      </p:sp>
      <p:sp>
        <p:nvSpPr>
          <p:cNvPr id="17" name="Text 14"/>
          <p:cNvSpPr/>
          <p:nvPr/>
        </p:nvSpPr>
        <p:spPr>
          <a:xfrm>
            <a:off x="428625" y="4249806"/>
            <a:ext cx="46434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00D9FF"/>
                </a:solidFill>
              </a:rPr>
              <a:t>▸</a:t>
            </a:r>
            <a:endParaRPr lang="en-US" sz="674" dirty="0"/>
          </a:p>
        </p:txBody>
      </p:sp>
      <p:sp>
        <p:nvSpPr>
          <p:cNvPr id="18" name="Text 15"/>
          <p:cNvSpPr/>
          <p:nvPr/>
        </p:nvSpPr>
        <p:spPr>
          <a:xfrm>
            <a:off x="428625" y="4451254"/>
            <a:ext cx="46434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00D9FF"/>
                </a:solidFill>
              </a:rPr>
              <a:t>▸</a:t>
            </a:r>
            <a:endParaRPr lang="en-US" sz="674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875" y="571500"/>
            <a:ext cx="4000500" cy="4000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2025-11-21T15:06:36Z</dcterms:created>
  <dcterms:modified xsi:type="dcterms:W3CDTF">2025-11-21T15:06:36Z</dcterms:modified>
</cp:coreProperties>
</file>